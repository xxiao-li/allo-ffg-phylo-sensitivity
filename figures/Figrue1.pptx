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1"/>
    <a:srgbClr val="4E95D9"/>
    <a:srgbClr val="0070C0"/>
    <a:srgbClr val="D1D1D1"/>
    <a:srgbClr val="FFD7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/>
    <p:restoredTop sz="94690"/>
  </p:normalViewPr>
  <p:slideViewPr>
    <p:cSldViewPr snapToGrid="0" showGuides="1">
      <p:cViewPr>
        <p:scale>
          <a:sx n="111" d="100"/>
          <a:sy n="111" d="100"/>
        </p:scale>
        <p:origin x="2464" y="-99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3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1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6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41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7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2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27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3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3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6357C-EB2C-C74D-AE35-5391848F9EC7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F1C95-7624-4842-B8AB-2EFB1D23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2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E6928D-DE58-DD9C-6115-1D832F687947}"/>
              </a:ext>
            </a:extLst>
          </p:cNvPr>
          <p:cNvSpPr/>
          <p:nvPr/>
        </p:nvSpPr>
        <p:spPr>
          <a:xfrm>
            <a:off x="90971" y="464203"/>
            <a:ext cx="1819233" cy="209611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442EDE-AC14-C15D-7222-7A7164A47938}"/>
              </a:ext>
            </a:extLst>
          </p:cNvPr>
          <p:cNvSpPr/>
          <p:nvPr/>
        </p:nvSpPr>
        <p:spPr>
          <a:xfrm>
            <a:off x="2017090" y="464203"/>
            <a:ext cx="2568357" cy="209611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2580946-25EC-3DF2-8E82-309EBB1DE129}"/>
              </a:ext>
            </a:extLst>
          </p:cNvPr>
          <p:cNvSpPr/>
          <p:nvPr/>
        </p:nvSpPr>
        <p:spPr>
          <a:xfrm>
            <a:off x="115052" y="3387021"/>
            <a:ext cx="1633920" cy="196115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C17638-C22C-D3B2-AAD7-4325FE9D2487}"/>
              </a:ext>
            </a:extLst>
          </p:cNvPr>
          <p:cNvSpPr/>
          <p:nvPr/>
        </p:nvSpPr>
        <p:spPr>
          <a:xfrm>
            <a:off x="1875971" y="3387022"/>
            <a:ext cx="4900252" cy="1961156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9" name="Right Brace 48">
            <a:extLst>
              <a:ext uri="{FF2B5EF4-FFF2-40B4-BE49-F238E27FC236}">
                <a16:creationId xmlns:a16="http://schemas.microsoft.com/office/drawing/2014/main" id="{E7DD5CE6-7145-2362-4128-1140A56F1136}"/>
              </a:ext>
            </a:extLst>
          </p:cNvPr>
          <p:cNvSpPr/>
          <p:nvPr/>
        </p:nvSpPr>
        <p:spPr>
          <a:xfrm rot="16200000">
            <a:off x="3275094" y="-620216"/>
            <a:ext cx="341086" cy="6661172"/>
          </a:xfrm>
          <a:prstGeom prst="rightBrace">
            <a:avLst>
              <a:gd name="adj1" fmla="val 31136"/>
              <a:gd name="adj2" fmla="val 49908"/>
            </a:avLst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70920"/>
                </a:schemeClr>
              </a:gs>
              <a:gs pos="83000">
                <a:schemeClr val="accent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EC3FBD22-46C9-1D2F-F2D5-39F73B1C3F0C}"/>
              </a:ext>
            </a:extLst>
          </p:cNvPr>
          <p:cNvSpPr/>
          <p:nvPr/>
        </p:nvSpPr>
        <p:spPr>
          <a:xfrm>
            <a:off x="710167" y="800193"/>
            <a:ext cx="1080990" cy="949263"/>
          </a:xfrm>
          <a:prstGeom prst="can">
            <a:avLst>
              <a:gd name="adj" fmla="val 10939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200">
            <a:extLst>
              <a:ext uri="{FF2B5EF4-FFF2-40B4-BE49-F238E27FC236}">
                <a16:creationId xmlns:a16="http://schemas.microsoft.com/office/drawing/2014/main" id="{FDDBD8F7-DE0D-CF09-CDF5-8BDCF66ED2D1}"/>
              </a:ext>
            </a:extLst>
          </p:cNvPr>
          <p:cNvSpPr/>
          <p:nvPr/>
        </p:nvSpPr>
        <p:spPr>
          <a:xfrm flipH="1">
            <a:off x="750499" y="934928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200">
            <a:extLst>
              <a:ext uri="{FF2B5EF4-FFF2-40B4-BE49-F238E27FC236}">
                <a16:creationId xmlns:a16="http://schemas.microsoft.com/office/drawing/2014/main" id="{41449F04-3E5F-0B77-82B5-58FD92CC97B9}"/>
              </a:ext>
            </a:extLst>
          </p:cNvPr>
          <p:cNvSpPr/>
          <p:nvPr/>
        </p:nvSpPr>
        <p:spPr>
          <a:xfrm flipH="1">
            <a:off x="929693" y="934928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200">
            <a:extLst>
              <a:ext uri="{FF2B5EF4-FFF2-40B4-BE49-F238E27FC236}">
                <a16:creationId xmlns:a16="http://schemas.microsoft.com/office/drawing/2014/main" id="{C1186B93-EC85-928C-93AF-2A5E1DFB4745}"/>
              </a:ext>
            </a:extLst>
          </p:cNvPr>
          <p:cNvSpPr/>
          <p:nvPr/>
        </p:nvSpPr>
        <p:spPr>
          <a:xfrm flipH="1">
            <a:off x="1108887" y="934928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200">
            <a:extLst>
              <a:ext uri="{FF2B5EF4-FFF2-40B4-BE49-F238E27FC236}">
                <a16:creationId xmlns:a16="http://schemas.microsoft.com/office/drawing/2014/main" id="{BB3B1E6E-3FC4-12DB-25ED-F9CE59C05E2B}"/>
              </a:ext>
            </a:extLst>
          </p:cNvPr>
          <p:cNvSpPr/>
          <p:nvPr/>
        </p:nvSpPr>
        <p:spPr>
          <a:xfrm flipH="1">
            <a:off x="1288081" y="934928"/>
            <a:ext cx="72000" cy="72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200">
            <a:extLst>
              <a:ext uri="{FF2B5EF4-FFF2-40B4-BE49-F238E27FC236}">
                <a16:creationId xmlns:a16="http://schemas.microsoft.com/office/drawing/2014/main" id="{40DFFE22-1314-34E4-C561-CBA29D6FD9E6}"/>
              </a:ext>
            </a:extLst>
          </p:cNvPr>
          <p:cNvSpPr/>
          <p:nvPr/>
        </p:nvSpPr>
        <p:spPr>
          <a:xfrm flipH="1">
            <a:off x="1467275" y="934928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200">
            <a:extLst>
              <a:ext uri="{FF2B5EF4-FFF2-40B4-BE49-F238E27FC236}">
                <a16:creationId xmlns:a16="http://schemas.microsoft.com/office/drawing/2014/main" id="{BC004E4B-FEB5-C519-86ED-4116A3682BA5}"/>
              </a:ext>
            </a:extLst>
          </p:cNvPr>
          <p:cNvSpPr/>
          <p:nvPr/>
        </p:nvSpPr>
        <p:spPr>
          <a:xfrm flipH="1">
            <a:off x="1643642" y="934928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200">
            <a:extLst>
              <a:ext uri="{FF2B5EF4-FFF2-40B4-BE49-F238E27FC236}">
                <a16:creationId xmlns:a16="http://schemas.microsoft.com/office/drawing/2014/main" id="{8985D4D4-5DC4-5876-41A8-E93071DC1D40}"/>
              </a:ext>
            </a:extLst>
          </p:cNvPr>
          <p:cNvSpPr/>
          <p:nvPr/>
        </p:nvSpPr>
        <p:spPr>
          <a:xfrm flipH="1">
            <a:off x="750499" y="1074713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200">
            <a:extLst>
              <a:ext uri="{FF2B5EF4-FFF2-40B4-BE49-F238E27FC236}">
                <a16:creationId xmlns:a16="http://schemas.microsoft.com/office/drawing/2014/main" id="{2DC63BC2-2A70-92E5-9E31-485D0745B673}"/>
              </a:ext>
            </a:extLst>
          </p:cNvPr>
          <p:cNvSpPr/>
          <p:nvPr/>
        </p:nvSpPr>
        <p:spPr>
          <a:xfrm flipH="1">
            <a:off x="929128" y="1074713"/>
            <a:ext cx="72000" cy="72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Shape 200">
            <a:extLst>
              <a:ext uri="{FF2B5EF4-FFF2-40B4-BE49-F238E27FC236}">
                <a16:creationId xmlns:a16="http://schemas.microsoft.com/office/drawing/2014/main" id="{6057882C-E9B4-D31C-E657-18F3B2CD63A0}"/>
              </a:ext>
            </a:extLst>
          </p:cNvPr>
          <p:cNvSpPr/>
          <p:nvPr/>
        </p:nvSpPr>
        <p:spPr>
          <a:xfrm flipH="1">
            <a:off x="1107757" y="1074713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200">
            <a:extLst>
              <a:ext uri="{FF2B5EF4-FFF2-40B4-BE49-F238E27FC236}">
                <a16:creationId xmlns:a16="http://schemas.microsoft.com/office/drawing/2014/main" id="{E922C50D-CA45-ACEE-C286-958C7E7C2A80}"/>
              </a:ext>
            </a:extLst>
          </p:cNvPr>
          <p:cNvSpPr/>
          <p:nvPr/>
        </p:nvSpPr>
        <p:spPr>
          <a:xfrm flipH="1">
            <a:off x="1286386" y="1074713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Shape 200">
            <a:extLst>
              <a:ext uri="{FF2B5EF4-FFF2-40B4-BE49-F238E27FC236}">
                <a16:creationId xmlns:a16="http://schemas.microsoft.com/office/drawing/2014/main" id="{B35F66E8-43C4-6C2C-D8BE-1BE09563F93B}"/>
              </a:ext>
            </a:extLst>
          </p:cNvPr>
          <p:cNvSpPr/>
          <p:nvPr/>
        </p:nvSpPr>
        <p:spPr>
          <a:xfrm flipH="1">
            <a:off x="1465015" y="1074713"/>
            <a:ext cx="72000" cy="72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Shape 200">
            <a:extLst>
              <a:ext uri="{FF2B5EF4-FFF2-40B4-BE49-F238E27FC236}">
                <a16:creationId xmlns:a16="http://schemas.microsoft.com/office/drawing/2014/main" id="{B79DC014-39EA-6506-1D6F-698E0B3F9C4A}"/>
              </a:ext>
            </a:extLst>
          </p:cNvPr>
          <p:cNvSpPr/>
          <p:nvPr/>
        </p:nvSpPr>
        <p:spPr>
          <a:xfrm flipH="1">
            <a:off x="1643642" y="1074713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200">
            <a:extLst>
              <a:ext uri="{FF2B5EF4-FFF2-40B4-BE49-F238E27FC236}">
                <a16:creationId xmlns:a16="http://schemas.microsoft.com/office/drawing/2014/main" id="{AD031BD4-E2EC-C0BC-3F45-6ED4F649B9F0}"/>
              </a:ext>
            </a:extLst>
          </p:cNvPr>
          <p:cNvSpPr/>
          <p:nvPr/>
        </p:nvSpPr>
        <p:spPr>
          <a:xfrm flipH="1">
            <a:off x="750499" y="120898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200">
            <a:extLst>
              <a:ext uri="{FF2B5EF4-FFF2-40B4-BE49-F238E27FC236}">
                <a16:creationId xmlns:a16="http://schemas.microsoft.com/office/drawing/2014/main" id="{2AFCE7DE-137D-82C4-A6FE-40963BB319A2}"/>
              </a:ext>
            </a:extLst>
          </p:cNvPr>
          <p:cNvSpPr/>
          <p:nvPr/>
        </p:nvSpPr>
        <p:spPr>
          <a:xfrm flipH="1">
            <a:off x="929128" y="120898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200">
            <a:extLst>
              <a:ext uri="{FF2B5EF4-FFF2-40B4-BE49-F238E27FC236}">
                <a16:creationId xmlns:a16="http://schemas.microsoft.com/office/drawing/2014/main" id="{610BAA52-087F-899B-E9B2-87E748294CD3}"/>
              </a:ext>
            </a:extLst>
          </p:cNvPr>
          <p:cNvSpPr/>
          <p:nvPr/>
        </p:nvSpPr>
        <p:spPr>
          <a:xfrm flipH="1">
            <a:off x="1107757" y="120898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Shape 200">
            <a:extLst>
              <a:ext uri="{FF2B5EF4-FFF2-40B4-BE49-F238E27FC236}">
                <a16:creationId xmlns:a16="http://schemas.microsoft.com/office/drawing/2014/main" id="{E9EE56CE-E8DB-D86E-C358-7401CF28A493}"/>
              </a:ext>
            </a:extLst>
          </p:cNvPr>
          <p:cNvSpPr/>
          <p:nvPr/>
        </p:nvSpPr>
        <p:spPr>
          <a:xfrm flipH="1">
            <a:off x="1286386" y="120898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200">
            <a:extLst>
              <a:ext uri="{FF2B5EF4-FFF2-40B4-BE49-F238E27FC236}">
                <a16:creationId xmlns:a16="http://schemas.microsoft.com/office/drawing/2014/main" id="{BC48524F-6E1A-A23B-4615-2FDDB2E3F01A}"/>
              </a:ext>
            </a:extLst>
          </p:cNvPr>
          <p:cNvSpPr/>
          <p:nvPr/>
        </p:nvSpPr>
        <p:spPr>
          <a:xfrm flipH="1">
            <a:off x="1465015" y="120898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Shape 200">
            <a:extLst>
              <a:ext uri="{FF2B5EF4-FFF2-40B4-BE49-F238E27FC236}">
                <a16:creationId xmlns:a16="http://schemas.microsoft.com/office/drawing/2014/main" id="{84AD9181-D412-A95F-C563-7A4A6A39BFAB}"/>
              </a:ext>
            </a:extLst>
          </p:cNvPr>
          <p:cNvSpPr/>
          <p:nvPr/>
        </p:nvSpPr>
        <p:spPr>
          <a:xfrm flipH="1">
            <a:off x="1643642" y="120898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Shape 200">
            <a:extLst>
              <a:ext uri="{FF2B5EF4-FFF2-40B4-BE49-F238E27FC236}">
                <a16:creationId xmlns:a16="http://schemas.microsoft.com/office/drawing/2014/main" id="{0103250E-6E94-EB7E-F18D-175994749AE7}"/>
              </a:ext>
            </a:extLst>
          </p:cNvPr>
          <p:cNvSpPr/>
          <p:nvPr/>
        </p:nvSpPr>
        <p:spPr>
          <a:xfrm flipH="1">
            <a:off x="750499" y="1348280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Shape 200">
            <a:extLst>
              <a:ext uri="{FF2B5EF4-FFF2-40B4-BE49-F238E27FC236}">
                <a16:creationId xmlns:a16="http://schemas.microsoft.com/office/drawing/2014/main" id="{15D1BD66-D19B-6DC4-63A0-66874F14BABE}"/>
              </a:ext>
            </a:extLst>
          </p:cNvPr>
          <p:cNvSpPr/>
          <p:nvPr/>
        </p:nvSpPr>
        <p:spPr>
          <a:xfrm flipH="1">
            <a:off x="929128" y="1348280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200">
            <a:extLst>
              <a:ext uri="{FF2B5EF4-FFF2-40B4-BE49-F238E27FC236}">
                <a16:creationId xmlns:a16="http://schemas.microsoft.com/office/drawing/2014/main" id="{2C40A36C-7CC6-AEEA-E164-03A933CD333C}"/>
              </a:ext>
            </a:extLst>
          </p:cNvPr>
          <p:cNvSpPr/>
          <p:nvPr/>
        </p:nvSpPr>
        <p:spPr>
          <a:xfrm flipH="1">
            <a:off x="1107757" y="1348280"/>
            <a:ext cx="72000" cy="72000"/>
          </a:xfrm>
          <a:prstGeom prst="ellipse">
            <a:avLst/>
          </a:prstGeom>
          <a:solidFill>
            <a:schemeClr val="accent2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200">
            <a:extLst>
              <a:ext uri="{FF2B5EF4-FFF2-40B4-BE49-F238E27FC236}">
                <a16:creationId xmlns:a16="http://schemas.microsoft.com/office/drawing/2014/main" id="{341E663A-42CC-6E57-7BD5-F427AE0E68B7}"/>
              </a:ext>
            </a:extLst>
          </p:cNvPr>
          <p:cNvSpPr/>
          <p:nvPr/>
        </p:nvSpPr>
        <p:spPr>
          <a:xfrm flipH="1">
            <a:off x="1286386" y="1348280"/>
            <a:ext cx="72000" cy="72000"/>
          </a:xfrm>
          <a:prstGeom prst="ellipse">
            <a:avLst/>
          </a:prstGeom>
          <a:solidFill>
            <a:srgbClr val="FFD778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200">
            <a:extLst>
              <a:ext uri="{FF2B5EF4-FFF2-40B4-BE49-F238E27FC236}">
                <a16:creationId xmlns:a16="http://schemas.microsoft.com/office/drawing/2014/main" id="{EA778B1C-9D50-D018-E580-C65AF85750BE}"/>
              </a:ext>
            </a:extLst>
          </p:cNvPr>
          <p:cNvSpPr/>
          <p:nvPr/>
        </p:nvSpPr>
        <p:spPr>
          <a:xfrm flipH="1">
            <a:off x="1465015" y="1348280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Shape 200">
            <a:extLst>
              <a:ext uri="{FF2B5EF4-FFF2-40B4-BE49-F238E27FC236}">
                <a16:creationId xmlns:a16="http://schemas.microsoft.com/office/drawing/2014/main" id="{BDAE6EAF-6B73-7578-291F-C84BE19BDBEF}"/>
              </a:ext>
            </a:extLst>
          </p:cNvPr>
          <p:cNvSpPr/>
          <p:nvPr/>
        </p:nvSpPr>
        <p:spPr>
          <a:xfrm flipH="1">
            <a:off x="1643642" y="1348280"/>
            <a:ext cx="72000" cy="72000"/>
          </a:xfrm>
          <a:prstGeom prst="ellipse">
            <a:avLst/>
          </a:prstGeom>
          <a:solidFill>
            <a:schemeClr val="accent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Shape 200">
            <a:extLst>
              <a:ext uri="{FF2B5EF4-FFF2-40B4-BE49-F238E27FC236}">
                <a16:creationId xmlns:a16="http://schemas.microsoft.com/office/drawing/2014/main" id="{1769C13C-8F89-AAE5-1E06-BF5F333DD94D}"/>
              </a:ext>
            </a:extLst>
          </p:cNvPr>
          <p:cNvSpPr/>
          <p:nvPr/>
        </p:nvSpPr>
        <p:spPr>
          <a:xfrm flipH="1">
            <a:off x="750499" y="148282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Shape 200">
            <a:extLst>
              <a:ext uri="{FF2B5EF4-FFF2-40B4-BE49-F238E27FC236}">
                <a16:creationId xmlns:a16="http://schemas.microsoft.com/office/drawing/2014/main" id="{4EA2BFD5-A5B8-4262-E953-0CA651C383AB}"/>
              </a:ext>
            </a:extLst>
          </p:cNvPr>
          <p:cNvSpPr/>
          <p:nvPr/>
        </p:nvSpPr>
        <p:spPr>
          <a:xfrm flipH="1">
            <a:off x="929128" y="148282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Shape 200">
            <a:extLst>
              <a:ext uri="{FF2B5EF4-FFF2-40B4-BE49-F238E27FC236}">
                <a16:creationId xmlns:a16="http://schemas.microsoft.com/office/drawing/2014/main" id="{A27FB0CE-472A-A320-4155-62BF46628347}"/>
              </a:ext>
            </a:extLst>
          </p:cNvPr>
          <p:cNvSpPr/>
          <p:nvPr/>
        </p:nvSpPr>
        <p:spPr>
          <a:xfrm flipH="1">
            <a:off x="1107757" y="148282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Shape 200">
            <a:extLst>
              <a:ext uri="{FF2B5EF4-FFF2-40B4-BE49-F238E27FC236}">
                <a16:creationId xmlns:a16="http://schemas.microsoft.com/office/drawing/2014/main" id="{D3B3693B-A922-7FF1-802C-EE42F630FE00}"/>
              </a:ext>
            </a:extLst>
          </p:cNvPr>
          <p:cNvSpPr/>
          <p:nvPr/>
        </p:nvSpPr>
        <p:spPr>
          <a:xfrm flipH="1">
            <a:off x="1286386" y="148282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200">
            <a:extLst>
              <a:ext uri="{FF2B5EF4-FFF2-40B4-BE49-F238E27FC236}">
                <a16:creationId xmlns:a16="http://schemas.microsoft.com/office/drawing/2014/main" id="{AF3C126A-6111-4F72-C188-9A082916C97D}"/>
              </a:ext>
            </a:extLst>
          </p:cNvPr>
          <p:cNvSpPr/>
          <p:nvPr/>
        </p:nvSpPr>
        <p:spPr>
          <a:xfrm flipH="1">
            <a:off x="1465015" y="1482822"/>
            <a:ext cx="72000" cy="72000"/>
          </a:xfrm>
          <a:prstGeom prst="ellipse">
            <a:avLst/>
          </a:prstGeom>
          <a:solidFill>
            <a:schemeClr val="accent4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Shape 200">
            <a:extLst>
              <a:ext uri="{FF2B5EF4-FFF2-40B4-BE49-F238E27FC236}">
                <a16:creationId xmlns:a16="http://schemas.microsoft.com/office/drawing/2014/main" id="{E8061E2C-52C1-E637-0F9B-CEE9426BCE34}"/>
              </a:ext>
            </a:extLst>
          </p:cNvPr>
          <p:cNvSpPr/>
          <p:nvPr/>
        </p:nvSpPr>
        <p:spPr>
          <a:xfrm flipH="1">
            <a:off x="1643642" y="148282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Shape 200">
            <a:extLst>
              <a:ext uri="{FF2B5EF4-FFF2-40B4-BE49-F238E27FC236}">
                <a16:creationId xmlns:a16="http://schemas.microsoft.com/office/drawing/2014/main" id="{E53EC80B-6130-BDBF-5112-7EEE09B35CED}"/>
              </a:ext>
            </a:extLst>
          </p:cNvPr>
          <p:cNvSpPr/>
          <p:nvPr/>
        </p:nvSpPr>
        <p:spPr>
          <a:xfrm flipH="1">
            <a:off x="750499" y="1617364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Shape 200">
            <a:extLst>
              <a:ext uri="{FF2B5EF4-FFF2-40B4-BE49-F238E27FC236}">
                <a16:creationId xmlns:a16="http://schemas.microsoft.com/office/drawing/2014/main" id="{1CB2CE32-4A15-55C3-61B1-6BCBBE83C389}"/>
              </a:ext>
            </a:extLst>
          </p:cNvPr>
          <p:cNvSpPr/>
          <p:nvPr/>
        </p:nvSpPr>
        <p:spPr>
          <a:xfrm flipH="1">
            <a:off x="929128" y="161736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Shape 200">
            <a:extLst>
              <a:ext uri="{FF2B5EF4-FFF2-40B4-BE49-F238E27FC236}">
                <a16:creationId xmlns:a16="http://schemas.microsoft.com/office/drawing/2014/main" id="{8D8F49D5-9E05-EB5B-6876-824506137601}"/>
              </a:ext>
            </a:extLst>
          </p:cNvPr>
          <p:cNvSpPr/>
          <p:nvPr/>
        </p:nvSpPr>
        <p:spPr>
          <a:xfrm flipH="1">
            <a:off x="1107757" y="161736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Shape 200">
            <a:extLst>
              <a:ext uri="{FF2B5EF4-FFF2-40B4-BE49-F238E27FC236}">
                <a16:creationId xmlns:a16="http://schemas.microsoft.com/office/drawing/2014/main" id="{FCBCAC4E-CA2B-C94A-C541-73D5C79FF7FB}"/>
              </a:ext>
            </a:extLst>
          </p:cNvPr>
          <p:cNvSpPr/>
          <p:nvPr/>
        </p:nvSpPr>
        <p:spPr>
          <a:xfrm flipH="1">
            <a:off x="1286386" y="161736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Shape 200">
            <a:extLst>
              <a:ext uri="{FF2B5EF4-FFF2-40B4-BE49-F238E27FC236}">
                <a16:creationId xmlns:a16="http://schemas.microsoft.com/office/drawing/2014/main" id="{5765908F-9659-896B-7967-65AEFCAC189F}"/>
              </a:ext>
            </a:extLst>
          </p:cNvPr>
          <p:cNvSpPr/>
          <p:nvPr/>
        </p:nvSpPr>
        <p:spPr>
          <a:xfrm flipH="1">
            <a:off x="1465015" y="161736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Shape 200">
            <a:extLst>
              <a:ext uri="{FF2B5EF4-FFF2-40B4-BE49-F238E27FC236}">
                <a16:creationId xmlns:a16="http://schemas.microsoft.com/office/drawing/2014/main" id="{6A38222E-3E27-7E78-CE5C-D8781A13D75C}"/>
              </a:ext>
            </a:extLst>
          </p:cNvPr>
          <p:cNvSpPr/>
          <p:nvPr/>
        </p:nvSpPr>
        <p:spPr>
          <a:xfrm flipH="1">
            <a:off x="1643642" y="1617364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AAC6B18-F3AB-9196-5352-D38449D15BD3}"/>
              </a:ext>
            </a:extLst>
          </p:cNvPr>
          <p:cNvSpPr txBox="1"/>
          <p:nvPr/>
        </p:nvSpPr>
        <p:spPr>
          <a:xfrm>
            <a:off x="121320" y="187205"/>
            <a:ext cx="1614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Broad Motivation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7C7582A-6F3E-3690-B172-6BB42502C030}"/>
              </a:ext>
            </a:extLst>
          </p:cNvPr>
          <p:cNvSpPr txBox="1"/>
          <p:nvPr/>
        </p:nvSpPr>
        <p:spPr>
          <a:xfrm>
            <a:off x="208587" y="455476"/>
            <a:ext cx="1553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Sparse toxicity</a:t>
            </a:r>
            <a:r>
              <a:rPr lang="zh-CN" alt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477B0C5-08EE-0D71-9E13-D82E22FE349E}"/>
              </a:ext>
            </a:extLst>
          </p:cNvPr>
          <p:cNvSpPr txBox="1"/>
          <p:nvPr/>
        </p:nvSpPr>
        <p:spPr>
          <a:xfrm>
            <a:off x="43336" y="788870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Species</a:t>
            </a:r>
          </a:p>
        </p:txBody>
      </p:sp>
      <p:sp>
        <p:nvSpPr>
          <p:cNvPr id="132" name="Left Brace 131">
            <a:extLst>
              <a:ext uri="{FF2B5EF4-FFF2-40B4-BE49-F238E27FC236}">
                <a16:creationId xmlns:a16="http://schemas.microsoft.com/office/drawing/2014/main" id="{C10F38FD-35EB-EC3F-770D-7E3F84E92CA3}"/>
              </a:ext>
            </a:extLst>
          </p:cNvPr>
          <p:cNvSpPr/>
          <p:nvPr/>
        </p:nvSpPr>
        <p:spPr>
          <a:xfrm>
            <a:off x="158591" y="1168718"/>
            <a:ext cx="85852" cy="406655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3326602-653D-2121-8279-EBF782D36427}"/>
              </a:ext>
            </a:extLst>
          </p:cNvPr>
          <p:cNvSpPr txBox="1"/>
          <p:nvPr/>
        </p:nvSpPr>
        <p:spPr>
          <a:xfrm>
            <a:off x="185438" y="1552548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D035DA6-2435-9D32-1D35-DBF9C82D0296}"/>
              </a:ext>
            </a:extLst>
          </p:cNvPr>
          <p:cNvSpPr txBox="1"/>
          <p:nvPr/>
        </p:nvSpPr>
        <p:spPr>
          <a:xfrm>
            <a:off x="904844" y="1687188"/>
            <a:ext cx="8451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Chemicals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72C353-7881-145E-5F1D-963EEB94A433}"/>
              </a:ext>
            </a:extLst>
          </p:cNvPr>
          <p:cNvSpPr txBox="1"/>
          <p:nvPr/>
        </p:nvSpPr>
        <p:spPr>
          <a:xfrm>
            <a:off x="90971" y="2015427"/>
            <a:ext cx="1810090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Most species-chemical combinations remain unmeasured.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B5B8E53-4016-69E3-9204-7D33F0D0B33E}"/>
              </a:ext>
            </a:extLst>
          </p:cNvPr>
          <p:cNvSpPr txBox="1"/>
          <p:nvPr/>
        </p:nvSpPr>
        <p:spPr>
          <a:xfrm>
            <a:off x="2485574" y="184477"/>
            <a:ext cx="1701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2. This Study Design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BE7B6D2-1841-BB3D-14D5-84008E9070C3}"/>
              </a:ext>
            </a:extLst>
          </p:cNvPr>
          <p:cNvSpPr txBox="1"/>
          <p:nvPr/>
        </p:nvSpPr>
        <p:spPr>
          <a:xfrm>
            <a:off x="2332090" y="464202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Inputs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398C8AD-FB86-5C1B-120D-980C97791AD8}"/>
              </a:ext>
            </a:extLst>
          </p:cNvPr>
          <p:cNvSpPr txBox="1"/>
          <p:nvPr/>
        </p:nvSpPr>
        <p:spPr>
          <a:xfrm>
            <a:off x="2053753" y="782249"/>
            <a:ext cx="1097162" cy="14927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Body mass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Functional feeding group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Phylogeny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Chemical-use group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0F7B530-C564-5E7D-07CA-054AAF8FE9B6}"/>
              </a:ext>
            </a:extLst>
          </p:cNvPr>
          <p:cNvSpPr/>
          <p:nvPr/>
        </p:nvSpPr>
        <p:spPr>
          <a:xfrm>
            <a:off x="4688072" y="471714"/>
            <a:ext cx="2088151" cy="2076258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9AA8684-1422-8DED-3B50-D65C8166A4AD}"/>
              </a:ext>
            </a:extLst>
          </p:cNvPr>
          <p:cNvSpPr txBox="1"/>
          <p:nvPr/>
        </p:nvSpPr>
        <p:spPr>
          <a:xfrm>
            <a:off x="3632587" y="46420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Outputs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2B40046D-80D9-B114-E204-BA249639B9C8}"/>
              </a:ext>
            </a:extLst>
          </p:cNvPr>
          <p:cNvSpPr/>
          <p:nvPr/>
        </p:nvSpPr>
        <p:spPr>
          <a:xfrm>
            <a:off x="5423340" y="906431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771C5E77-770E-36D5-467C-4ABEE99B5295}"/>
              </a:ext>
            </a:extLst>
          </p:cNvPr>
          <p:cNvSpPr/>
          <p:nvPr/>
        </p:nvSpPr>
        <p:spPr>
          <a:xfrm>
            <a:off x="5601489" y="906431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3C8AE258-8EE2-1313-FFE2-1E398D19A814}"/>
              </a:ext>
            </a:extLst>
          </p:cNvPr>
          <p:cNvSpPr/>
          <p:nvPr/>
        </p:nvSpPr>
        <p:spPr>
          <a:xfrm>
            <a:off x="5779638" y="906431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7A61E69-52C5-E221-C9C5-646169465829}"/>
              </a:ext>
            </a:extLst>
          </p:cNvPr>
          <p:cNvSpPr/>
          <p:nvPr/>
        </p:nvSpPr>
        <p:spPr>
          <a:xfrm>
            <a:off x="5403078" y="869854"/>
            <a:ext cx="540000" cy="3817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98F52D67-4130-9252-F0DC-50A8B8C47E78}"/>
              </a:ext>
            </a:extLst>
          </p:cNvPr>
          <p:cNvSpPr/>
          <p:nvPr/>
        </p:nvSpPr>
        <p:spPr>
          <a:xfrm>
            <a:off x="5001226" y="1503240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10F19177-6161-1300-8C34-2E670AC69E3F}"/>
              </a:ext>
            </a:extLst>
          </p:cNvPr>
          <p:cNvSpPr/>
          <p:nvPr/>
        </p:nvSpPr>
        <p:spPr>
          <a:xfrm>
            <a:off x="5184113" y="1503240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9F568C64-EF04-1152-E430-40CBF667BFE1}"/>
              </a:ext>
            </a:extLst>
          </p:cNvPr>
          <p:cNvSpPr/>
          <p:nvPr/>
        </p:nvSpPr>
        <p:spPr>
          <a:xfrm>
            <a:off x="5367001" y="1503240"/>
            <a:ext cx="144000" cy="144000"/>
          </a:xfrm>
          <a:prstGeom prst="ellipse">
            <a:avLst/>
          </a:prstGeom>
          <a:solidFill>
            <a:schemeClr val="accent2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90FBB34-BA8D-36D9-5CA4-3D3D0E710D39}"/>
              </a:ext>
            </a:extLst>
          </p:cNvPr>
          <p:cNvSpPr/>
          <p:nvPr/>
        </p:nvSpPr>
        <p:spPr>
          <a:xfrm>
            <a:off x="4980964" y="1473583"/>
            <a:ext cx="540000" cy="38176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7BF683FE-76AE-6DC7-7F90-329149165A86}"/>
              </a:ext>
            </a:extLst>
          </p:cNvPr>
          <p:cNvSpPr/>
          <p:nvPr/>
        </p:nvSpPr>
        <p:spPr>
          <a:xfrm>
            <a:off x="5923419" y="1513066"/>
            <a:ext cx="144000" cy="144000"/>
          </a:xfrm>
          <a:prstGeom prst="ellipse">
            <a:avLst/>
          </a:prstGeom>
          <a:solidFill>
            <a:srgbClr val="FFD778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5658EBDA-8483-FDEC-27AF-DA31DE281DD1}"/>
              </a:ext>
            </a:extLst>
          </p:cNvPr>
          <p:cNvSpPr/>
          <p:nvPr/>
        </p:nvSpPr>
        <p:spPr>
          <a:xfrm>
            <a:off x="6104199" y="151306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FE12FF0-D1A5-2AAD-5518-D5841016DF8E}"/>
              </a:ext>
            </a:extLst>
          </p:cNvPr>
          <p:cNvSpPr/>
          <p:nvPr/>
        </p:nvSpPr>
        <p:spPr>
          <a:xfrm>
            <a:off x="6284980" y="151306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2448D71-EB84-A6F4-9403-4206C7F4764B}"/>
              </a:ext>
            </a:extLst>
          </p:cNvPr>
          <p:cNvSpPr/>
          <p:nvPr/>
        </p:nvSpPr>
        <p:spPr>
          <a:xfrm>
            <a:off x="5902668" y="1473583"/>
            <a:ext cx="540000" cy="3817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66C117A3-78EC-3201-FE84-707A36EF8E47}"/>
              </a:ext>
            </a:extLst>
          </p:cNvPr>
          <p:cNvSpPr/>
          <p:nvPr/>
        </p:nvSpPr>
        <p:spPr>
          <a:xfrm>
            <a:off x="4747408" y="2138006"/>
            <a:ext cx="144000" cy="14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6B0D4BB8-0D36-6669-DCBF-D3D6A665C8F7}"/>
              </a:ext>
            </a:extLst>
          </p:cNvPr>
          <p:cNvSpPr/>
          <p:nvPr/>
        </p:nvSpPr>
        <p:spPr>
          <a:xfrm>
            <a:off x="4918846" y="213800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5BD618F5-8EA2-E234-741D-E380FA9A22A3}"/>
              </a:ext>
            </a:extLst>
          </p:cNvPr>
          <p:cNvSpPr/>
          <p:nvPr/>
        </p:nvSpPr>
        <p:spPr>
          <a:xfrm>
            <a:off x="5090283" y="213800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CA9E86E-0B06-4490-F2FB-5FD24C8A7732}"/>
              </a:ext>
            </a:extLst>
          </p:cNvPr>
          <p:cNvSpPr/>
          <p:nvPr/>
        </p:nvSpPr>
        <p:spPr>
          <a:xfrm>
            <a:off x="4726091" y="2081594"/>
            <a:ext cx="540000" cy="42665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D416335B-E1DF-EE51-A60E-BEDC240A72F4}"/>
              </a:ext>
            </a:extLst>
          </p:cNvPr>
          <p:cNvSpPr/>
          <p:nvPr/>
        </p:nvSpPr>
        <p:spPr>
          <a:xfrm>
            <a:off x="5489192" y="2127837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F1E2AF49-8F7D-9A33-B810-7E836A8CFD0F}"/>
              </a:ext>
            </a:extLst>
          </p:cNvPr>
          <p:cNvSpPr/>
          <p:nvPr/>
        </p:nvSpPr>
        <p:spPr>
          <a:xfrm>
            <a:off x="5665406" y="2127837"/>
            <a:ext cx="144000" cy="144000"/>
          </a:xfrm>
          <a:prstGeom prst="ellipse">
            <a:avLst/>
          </a:prstGeom>
          <a:solidFill>
            <a:schemeClr val="accent4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2F1666E-CC5F-49F2-C5C7-AE781DEA6DF6}"/>
              </a:ext>
            </a:extLst>
          </p:cNvPr>
          <p:cNvSpPr/>
          <p:nvPr/>
        </p:nvSpPr>
        <p:spPr>
          <a:xfrm>
            <a:off x="5841620" y="2127837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E29B676-5A08-C728-D53C-1DB5B8BE7F60}"/>
              </a:ext>
            </a:extLst>
          </p:cNvPr>
          <p:cNvSpPr/>
          <p:nvPr/>
        </p:nvSpPr>
        <p:spPr>
          <a:xfrm>
            <a:off x="5468930" y="2084923"/>
            <a:ext cx="540000" cy="42665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DF1EF8A1-30F5-E38A-5DC0-68D3251399AE}"/>
              </a:ext>
            </a:extLst>
          </p:cNvPr>
          <p:cNvSpPr/>
          <p:nvPr/>
        </p:nvSpPr>
        <p:spPr>
          <a:xfrm>
            <a:off x="6208024" y="214329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A1A2C50C-8E4A-F40D-5A9D-32AFF7B47CC9}"/>
              </a:ext>
            </a:extLst>
          </p:cNvPr>
          <p:cNvSpPr/>
          <p:nvPr/>
        </p:nvSpPr>
        <p:spPr>
          <a:xfrm>
            <a:off x="6380411" y="214329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CD43945-7315-69BD-C717-7463CF517CEF}"/>
              </a:ext>
            </a:extLst>
          </p:cNvPr>
          <p:cNvSpPr/>
          <p:nvPr/>
        </p:nvSpPr>
        <p:spPr>
          <a:xfrm>
            <a:off x="6552798" y="2143296"/>
            <a:ext cx="144000" cy="144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945865C-B5FE-5BDD-4952-9C4BEDDCA700}"/>
              </a:ext>
            </a:extLst>
          </p:cNvPr>
          <p:cNvSpPr/>
          <p:nvPr/>
        </p:nvSpPr>
        <p:spPr>
          <a:xfrm>
            <a:off x="6187762" y="2084923"/>
            <a:ext cx="540000" cy="42332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145BF4F8-9AA3-64FB-AEBD-250D9FF8ECC6}"/>
              </a:ext>
            </a:extLst>
          </p:cNvPr>
          <p:cNvCxnSpPr>
            <a:cxnSpLocks/>
            <a:stCxn id="164" idx="0"/>
            <a:endCxn id="160" idx="2"/>
          </p:cNvCxnSpPr>
          <p:nvPr/>
        </p:nvCxnSpPr>
        <p:spPr>
          <a:xfrm flipV="1">
            <a:off x="5250964" y="1251621"/>
            <a:ext cx="422114" cy="22196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95E0030C-DC97-20FD-2162-8C00FF391828}"/>
              </a:ext>
            </a:extLst>
          </p:cNvPr>
          <p:cNvCxnSpPr>
            <a:cxnSpLocks/>
            <a:stCxn id="168" idx="0"/>
            <a:endCxn id="160" idx="2"/>
          </p:cNvCxnSpPr>
          <p:nvPr/>
        </p:nvCxnSpPr>
        <p:spPr>
          <a:xfrm flipH="1" flipV="1">
            <a:off x="5673078" y="1251621"/>
            <a:ext cx="499590" cy="22196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C460CCA-B757-8130-86C2-4E464DF70D51}"/>
              </a:ext>
            </a:extLst>
          </p:cNvPr>
          <p:cNvCxnSpPr>
            <a:cxnSpLocks/>
            <a:stCxn id="172" idx="0"/>
            <a:endCxn id="164" idx="2"/>
          </p:cNvCxnSpPr>
          <p:nvPr/>
        </p:nvCxnSpPr>
        <p:spPr>
          <a:xfrm flipV="1">
            <a:off x="4996091" y="1855351"/>
            <a:ext cx="254873" cy="22624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3BEC08A4-BC51-300F-D066-9D4476EFC435}"/>
              </a:ext>
            </a:extLst>
          </p:cNvPr>
          <p:cNvCxnSpPr>
            <a:cxnSpLocks/>
            <a:stCxn id="176" idx="0"/>
            <a:endCxn id="164" idx="2"/>
          </p:cNvCxnSpPr>
          <p:nvPr/>
        </p:nvCxnSpPr>
        <p:spPr>
          <a:xfrm flipH="1" flipV="1">
            <a:off x="5250964" y="1855351"/>
            <a:ext cx="487966" cy="2295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904D308C-4FDA-E20A-DCA4-0BF644B194F3}"/>
              </a:ext>
            </a:extLst>
          </p:cNvPr>
          <p:cNvCxnSpPr>
            <a:cxnSpLocks/>
            <a:stCxn id="176" idx="0"/>
            <a:endCxn id="168" idx="2"/>
          </p:cNvCxnSpPr>
          <p:nvPr/>
        </p:nvCxnSpPr>
        <p:spPr>
          <a:xfrm flipV="1">
            <a:off x="5738930" y="1855350"/>
            <a:ext cx="433738" cy="22957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6ACA07EA-1F9A-23CB-73C4-FA865544D655}"/>
              </a:ext>
            </a:extLst>
          </p:cNvPr>
          <p:cNvCxnSpPr>
            <a:cxnSpLocks/>
            <a:stCxn id="180" idx="0"/>
            <a:endCxn id="168" idx="2"/>
          </p:cNvCxnSpPr>
          <p:nvPr/>
        </p:nvCxnSpPr>
        <p:spPr>
          <a:xfrm flipH="1" flipV="1">
            <a:off x="6172668" y="1855350"/>
            <a:ext cx="285094" cy="22957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F6348687-401F-6677-4AB9-AC8A3C0E1D67}"/>
              </a:ext>
            </a:extLst>
          </p:cNvPr>
          <p:cNvSpPr txBox="1"/>
          <p:nvPr/>
        </p:nvSpPr>
        <p:spPr>
          <a:xfrm>
            <a:off x="5445419" y="1029430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FFG1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262A7F63-1BFD-151C-8A59-145AB8350A6B}"/>
              </a:ext>
            </a:extLst>
          </p:cNvPr>
          <p:cNvSpPr txBox="1"/>
          <p:nvPr/>
        </p:nvSpPr>
        <p:spPr>
          <a:xfrm>
            <a:off x="5004893" y="1611328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FFG2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14B841A-698F-4E7B-F164-379AB940B371}"/>
              </a:ext>
            </a:extLst>
          </p:cNvPr>
          <p:cNvSpPr txBox="1"/>
          <p:nvPr/>
        </p:nvSpPr>
        <p:spPr>
          <a:xfrm>
            <a:off x="5961834" y="1609306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FFG3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3E2BA5D-DD28-40F8-6AF8-1784BAC423E5}"/>
              </a:ext>
            </a:extLst>
          </p:cNvPr>
          <p:cNvSpPr txBox="1"/>
          <p:nvPr/>
        </p:nvSpPr>
        <p:spPr>
          <a:xfrm>
            <a:off x="4743525" y="2282006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FFG4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695352A-1A47-1B86-2B1A-8D061E2316E1}"/>
              </a:ext>
            </a:extLst>
          </p:cNvPr>
          <p:cNvSpPr txBox="1"/>
          <p:nvPr/>
        </p:nvSpPr>
        <p:spPr>
          <a:xfrm>
            <a:off x="5508016" y="2281310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FFG5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CDD580B-C1A3-0A20-87C4-EB548A3A2D0D}"/>
              </a:ext>
            </a:extLst>
          </p:cNvPr>
          <p:cNvSpPr txBox="1"/>
          <p:nvPr/>
        </p:nvSpPr>
        <p:spPr>
          <a:xfrm>
            <a:off x="6227212" y="2290426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FFG6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AAB3D05-1CF9-B4B0-CCF2-C8C818D110ED}"/>
              </a:ext>
            </a:extLst>
          </p:cNvPr>
          <p:cNvSpPr txBox="1"/>
          <p:nvPr/>
        </p:nvSpPr>
        <p:spPr>
          <a:xfrm>
            <a:off x="3442452" y="973745"/>
            <a:ext cx="1127481" cy="11695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Phylogenetic signal</a:t>
            </a:r>
          </a:p>
          <a:p>
            <a:r>
              <a:rPr lang="en-GB" dirty="0"/>
              <a:t>Structured sensitivity patterns</a:t>
            </a:r>
          </a:p>
          <a:p>
            <a:r>
              <a:rPr lang="en-US" dirty="0"/>
              <a:t>Uncertainty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C6A66E-AEEF-7D3C-DBCB-4969EA4FA852}"/>
              </a:ext>
            </a:extLst>
          </p:cNvPr>
          <p:cNvSpPr txBox="1"/>
          <p:nvPr/>
        </p:nvSpPr>
        <p:spPr>
          <a:xfrm>
            <a:off x="4883671" y="193287"/>
            <a:ext cx="1713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3. Future Application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D8BFBD-E737-462E-0B92-35FF4F7F25B7}"/>
              </a:ext>
            </a:extLst>
          </p:cNvPr>
          <p:cNvSpPr txBox="1"/>
          <p:nvPr/>
        </p:nvSpPr>
        <p:spPr>
          <a:xfrm>
            <a:off x="4755400" y="443248"/>
            <a:ext cx="19988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GB" dirty="0"/>
              <a:t>Potential integration into food</a:t>
            </a:r>
            <a:r>
              <a:rPr lang="zh-CN" altLang="en-US" dirty="0"/>
              <a:t> </a:t>
            </a:r>
            <a:r>
              <a:rPr lang="en-GB" dirty="0"/>
              <a:t>web risk</a:t>
            </a:r>
            <a:r>
              <a:rPr lang="zh-CN" altLang="en-US" dirty="0"/>
              <a:t> </a:t>
            </a:r>
            <a:r>
              <a:rPr lang="en-GB" dirty="0"/>
              <a:t>assessment</a:t>
            </a:r>
          </a:p>
        </p:txBody>
      </p:sp>
      <p:pic>
        <p:nvPicPr>
          <p:cNvPr id="42" name="Picture 41" descr="A group of green symbols&#10;&#10;Description automatically generated">
            <a:extLst>
              <a:ext uri="{FF2B5EF4-FFF2-40B4-BE49-F238E27FC236}">
                <a16:creationId xmlns:a16="http://schemas.microsoft.com/office/drawing/2014/main" id="{29F05389-C251-057B-F49E-19112D07A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58" b="47857"/>
          <a:stretch/>
        </p:blipFill>
        <p:spPr>
          <a:xfrm>
            <a:off x="163121" y="1078567"/>
            <a:ext cx="500000" cy="165056"/>
          </a:xfrm>
          <a:prstGeom prst="rect">
            <a:avLst/>
          </a:prstGeom>
          <a:ln>
            <a:noFill/>
          </a:ln>
        </p:spPr>
      </p:pic>
      <p:pic>
        <p:nvPicPr>
          <p:cNvPr id="43" name="Picture 42" descr="A yellow bug with black background&#10;&#10;Description automatically generated">
            <a:extLst>
              <a:ext uri="{FF2B5EF4-FFF2-40B4-BE49-F238E27FC236}">
                <a16:creationId xmlns:a16="http://schemas.microsoft.com/office/drawing/2014/main" id="{1D1BEAD9-6CBE-ECE8-D581-FC1D3B8EB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15" y="1276568"/>
            <a:ext cx="219237" cy="191175"/>
          </a:xfrm>
          <a:prstGeom prst="rect">
            <a:avLst/>
          </a:prstGeom>
        </p:spPr>
      </p:pic>
      <p:pic>
        <p:nvPicPr>
          <p:cNvPr id="44" name="Picture 43" descr="A white fish with a black background&#10;&#10;Description automatically generated">
            <a:extLst>
              <a:ext uri="{FF2B5EF4-FFF2-40B4-BE49-F238E27FC236}">
                <a16:creationId xmlns:a16="http://schemas.microsoft.com/office/drawing/2014/main" id="{2713547B-CCFF-270E-FF35-FC1FCB2D0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74" y="1502728"/>
            <a:ext cx="266430" cy="136412"/>
          </a:xfrm>
          <a:prstGeom prst="rect">
            <a:avLst/>
          </a:prstGeom>
          <a:noFill/>
          <a:ln>
            <a:tailEnd type="arrow"/>
          </a:ln>
        </p:spPr>
      </p:pic>
      <p:sp>
        <p:nvSpPr>
          <p:cNvPr id="45" name="Right Brace 44">
            <a:extLst>
              <a:ext uri="{FF2B5EF4-FFF2-40B4-BE49-F238E27FC236}">
                <a16:creationId xmlns:a16="http://schemas.microsoft.com/office/drawing/2014/main" id="{C497457F-CCC0-4AF5-8137-D4D9FFA3959A}"/>
              </a:ext>
            </a:extLst>
          </p:cNvPr>
          <p:cNvSpPr/>
          <p:nvPr/>
        </p:nvSpPr>
        <p:spPr>
          <a:xfrm>
            <a:off x="3150915" y="854864"/>
            <a:ext cx="221872" cy="13643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1D92FB-1A87-0E81-CAAF-31D8D8A37421}"/>
              </a:ext>
            </a:extLst>
          </p:cNvPr>
          <p:cNvSpPr txBox="1"/>
          <p:nvPr/>
        </p:nvSpPr>
        <p:spPr>
          <a:xfrm>
            <a:off x="115050" y="2893778"/>
            <a:ext cx="1633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Step 1.</a:t>
            </a:r>
            <a:r>
              <a: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Quantify phylogenetic signal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2FFD8-F54B-B3CF-4040-690ACD8E7A4A}"/>
              </a:ext>
            </a:extLst>
          </p:cNvPr>
          <p:cNvSpPr txBox="1"/>
          <p:nvPr/>
        </p:nvSpPr>
        <p:spPr>
          <a:xfrm>
            <a:off x="1875971" y="2890327"/>
            <a:ext cx="490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Step 2.</a:t>
            </a:r>
            <a:r>
              <a: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Test Bayesian hierarchical models with explicit phylogenetic effects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EA7C5-4741-4003-A0EF-9E58525627F9}"/>
              </a:ext>
            </a:extLst>
          </p:cNvPr>
          <p:cNvSpPr txBox="1"/>
          <p:nvPr/>
        </p:nvSpPr>
        <p:spPr>
          <a:xfrm>
            <a:off x="136417" y="3410577"/>
            <a:ext cx="1584347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Quantify phylogenetic signal in species sensitivity within each taxonomic group for each chemical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089E5-8203-218C-2422-A5036C95CC11}"/>
              </a:ext>
            </a:extLst>
          </p:cNvPr>
          <p:cNvSpPr txBox="1"/>
          <p:nvPr/>
        </p:nvSpPr>
        <p:spPr>
          <a:xfrm rot="16200000">
            <a:off x="1582247" y="4305921"/>
            <a:ext cx="8210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B06A2AA-DC8E-74AE-684D-E44433B9342A}"/>
              </a:ext>
            </a:extLst>
          </p:cNvPr>
          <p:cNvGrpSpPr/>
          <p:nvPr/>
        </p:nvGrpSpPr>
        <p:grpSpPr>
          <a:xfrm>
            <a:off x="2054102" y="3529623"/>
            <a:ext cx="1478269" cy="1749895"/>
            <a:chOff x="2054102" y="3487091"/>
            <a:chExt cx="1478269" cy="174989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531137-63A7-3ABA-45D1-3A0B2C09429A}"/>
                </a:ext>
              </a:extLst>
            </p:cNvPr>
            <p:cNvSpPr txBox="1"/>
            <p:nvPr/>
          </p:nvSpPr>
          <p:spPr>
            <a:xfrm>
              <a:off x="2411806" y="4975376"/>
              <a:ext cx="8819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Body Mass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8DA8DF-1907-7592-0280-05C4F2B12A0B}"/>
                </a:ext>
              </a:extLst>
            </p:cNvPr>
            <p:cNvGrpSpPr/>
            <p:nvPr/>
          </p:nvGrpSpPr>
          <p:grpSpPr>
            <a:xfrm>
              <a:off x="2127236" y="3829272"/>
              <a:ext cx="1332000" cy="1152000"/>
              <a:chOff x="421284" y="3354967"/>
              <a:chExt cx="1332000" cy="1152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D44B8C2-0B48-4C28-4402-3604C10AA840}"/>
                  </a:ext>
                </a:extLst>
              </p:cNvPr>
              <p:cNvSpPr/>
              <p:nvPr/>
            </p:nvSpPr>
            <p:spPr>
              <a:xfrm>
                <a:off x="421284" y="3354967"/>
                <a:ext cx="1332000" cy="1152000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98D7E6E-72E3-C558-1023-BD8F2D7FCB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226" y="3757482"/>
                <a:ext cx="939422" cy="40478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7EBF9F-1295-4A82-54E8-78EFAB291A22}"/>
                </a:ext>
              </a:extLst>
            </p:cNvPr>
            <p:cNvSpPr txBox="1"/>
            <p:nvPr/>
          </p:nvSpPr>
          <p:spPr>
            <a:xfrm>
              <a:off x="2054102" y="3487091"/>
              <a:ext cx="1478269" cy="267723"/>
            </a:xfrm>
            <a:prstGeom prst="roundRect">
              <a:avLst/>
            </a:prstGeom>
            <a:noFill/>
            <a:ln>
              <a:noFill/>
            </a:ln>
          </p:spPr>
          <p:txBody>
            <a:bodyPr wrap="none" lIns="36000" tIns="36000" rIns="36000" bIns="36000" rtlCol="0">
              <a:spAutoFit/>
            </a:bodyPr>
            <a:lstStyle/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H1: Global Allometry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CCCA67-B382-0C6D-430F-784CAC8C2AAA}"/>
              </a:ext>
            </a:extLst>
          </p:cNvPr>
          <p:cNvGrpSpPr/>
          <p:nvPr/>
        </p:nvGrpSpPr>
        <p:grpSpPr>
          <a:xfrm>
            <a:off x="3708188" y="3529623"/>
            <a:ext cx="1343735" cy="1749895"/>
            <a:chOff x="3721365" y="3487091"/>
            <a:chExt cx="1343735" cy="174989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699E4CE-92FD-28D8-DE1A-10BACEDA2E8C}"/>
                </a:ext>
              </a:extLst>
            </p:cNvPr>
            <p:cNvSpPr txBox="1"/>
            <p:nvPr/>
          </p:nvSpPr>
          <p:spPr>
            <a:xfrm>
              <a:off x="3953961" y="4975376"/>
              <a:ext cx="8819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Body Mass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3461CBE-C254-8CE3-F595-EC4A2B259580}"/>
                </a:ext>
              </a:extLst>
            </p:cNvPr>
            <p:cNvGrpSpPr/>
            <p:nvPr/>
          </p:nvGrpSpPr>
          <p:grpSpPr>
            <a:xfrm>
              <a:off x="3727233" y="3829272"/>
              <a:ext cx="1331999" cy="1155900"/>
              <a:chOff x="3727232" y="3829272"/>
              <a:chExt cx="1331999" cy="11559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988CFDA-71CD-C787-968F-ED6C8A0739C9}"/>
                  </a:ext>
                </a:extLst>
              </p:cNvPr>
              <p:cNvSpPr/>
              <p:nvPr/>
            </p:nvSpPr>
            <p:spPr>
              <a:xfrm>
                <a:off x="3727232" y="3833173"/>
                <a:ext cx="1331999" cy="115199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C423CA3-E8FC-B538-7F96-B18DC9A81C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51124" y="4335215"/>
                <a:ext cx="992204" cy="43602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3300D15-DB18-A315-3597-5248376146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7028" y="4533563"/>
                <a:ext cx="977806" cy="415273"/>
              </a:xfrm>
              <a:prstGeom prst="line">
                <a:avLst/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490E272-45BF-8BEB-882E-E1376647D8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3181" y="3944830"/>
                <a:ext cx="991240" cy="429716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BA47C5-EEA1-2928-E808-00EDA5533942}"/>
                  </a:ext>
                </a:extLst>
              </p:cNvPr>
              <p:cNvSpPr txBox="1"/>
              <p:nvPr/>
            </p:nvSpPr>
            <p:spPr>
              <a:xfrm rot="20046109">
                <a:off x="4219245" y="3829272"/>
                <a:ext cx="54534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FFG1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45D819-6568-EC00-DBC0-F218A1AF855C}"/>
                  </a:ext>
                </a:extLst>
              </p:cNvPr>
              <p:cNvSpPr txBox="1"/>
              <p:nvPr/>
            </p:nvSpPr>
            <p:spPr>
              <a:xfrm rot="20190468">
                <a:off x="4484092" y="4374238"/>
                <a:ext cx="54534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FFG6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50E06F5-3283-EFBD-3B4D-CCDE5B4BB0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7448" y="4136867"/>
                <a:ext cx="992204" cy="436027"/>
              </a:xfrm>
              <a:prstGeom prst="line">
                <a:avLst/>
              </a:prstGeom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641271-64AE-B779-FF3D-843AECAE0971}"/>
                  </a:ext>
                </a:extLst>
              </p:cNvPr>
              <p:cNvSpPr txBox="1"/>
              <p:nvPr/>
            </p:nvSpPr>
            <p:spPr>
              <a:xfrm rot="20190468">
                <a:off x="4329693" y="3999334"/>
                <a:ext cx="54534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FFG2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C90A7C3-AC69-47DF-C482-0988EB2F4281}"/>
                  </a:ext>
                </a:extLst>
              </p:cNvPr>
              <p:cNvSpPr txBox="1"/>
              <p:nvPr/>
            </p:nvSpPr>
            <p:spPr>
              <a:xfrm rot="20190468">
                <a:off x="4492955" y="4162372"/>
                <a:ext cx="32573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CF1676A-DD48-412F-125B-85FFC53921D0}"/>
                </a:ext>
              </a:extLst>
            </p:cNvPr>
            <p:cNvSpPr txBox="1"/>
            <p:nvPr/>
          </p:nvSpPr>
          <p:spPr>
            <a:xfrm>
              <a:off x="3721365" y="3487091"/>
              <a:ext cx="1343735" cy="267723"/>
            </a:xfrm>
            <a:prstGeom prst="roundRect">
              <a:avLst/>
            </a:prstGeom>
            <a:noFill/>
            <a:ln>
              <a:noFill/>
            </a:ln>
          </p:spPr>
          <p:txBody>
            <a:bodyPr wrap="none" lIns="36000" tIns="36000" rIns="36000" bIns="36000" rtlCol="0">
              <a:spAutoFit/>
            </a:bodyPr>
            <a:lstStyle/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H2: FFG Baselines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2AF576-DA4E-8467-1FBA-A9A45619705D}"/>
              </a:ext>
            </a:extLst>
          </p:cNvPr>
          <p:cNvGrpSpPr/>
          <p:nvPr/>
        </p:nvGrpSpPr>
        <p:grpSpPr>
          <a:xfrm>
            <a:off x="5299446" y="3529623"/>
            <a:ext cx="1333931" cy="1740099"/>
            <a:chOff x="5299446" y="3487091"/>
            <a:chExt cx="1333931" cy="174009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C88CD79-4A9C-1B57-71FE-111F2F71C4D7}"/>
                </a:ext>
              </a:extLst>
            </p:cNvPr>
            <p:cNvSpPr txBox="1"/>
            <p:nvPr/>
          </p:nvSpPr>
          <p:spPr>
            <a:xfrm>
              <a:off x="5582049" y="4965580"/>
              <a:ext cx="8819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Body Mass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9841FFA-96B8-B7A1-CCA1-CD8F23C5555A}"/>
                </a:ext>
              </a:extLst>
            </p:cNvPr>
            <p:cNvGrpSpPr/>
            <p:nvPr/>
          </p:nvGrpSpPr>
          <p:grpSpPr>
            <a:xfrm>
              <a:off x="5300411" y="3829272"/>
              <a:ext cx="1332000" cy="1152000"/>
              <a:chOff x="5300796" y="3833172"/>
              <a:chExt cx="1332000" cy="115200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9A1613B-96DB-0B4F-9ADC-80160820EC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82049" y="4044778"/>
                <a:ext cx="522150" cy="820608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6383F9C8-F923-D97D-BAFE-CEEBF34EC9D9}"/>
                  </a:ext>
                </a:extLst>
              </p:cNvPr>
              <p:cNvGrpSpPr/>
              <p:nvPr/>
            </p:nvGrpSpPr>
            <p:grpSpPr>
              <a:xfrm>
                <a:off x="5300796" y="3833172"/>
                <a:ext cx="1332000" cy="1152000"/>
                <a:chOff x="3466489" y="3320807"/>
                <a:chExt cx="1332000" cy="1152000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AB2CA63-D533-A3B4-056D-3703D2227FBA}"/>
                    </a:ext>
                  </a:extLst>
                </p:cNvPr>
                <p:cNvSpPr/>
                <p:nvPr/>
              </p:nvSpPr>
              <p:spPr>
                <a:xfrm>
                  <a:off x="3466489" y="3320807"/>
                  <a:ext cx="1332000" cy="1152000"/>
                </a:xfrm>
                <a:prstGeom prst="rect">
                  <a:avLst/>
                </a:prstGeom>
                <a:no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E1E1257-2CC8-3B23-BC36-6CE91D04FF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04670" y="3938453"/>
                  <a:ext cx="1114206" cy="172999"/>
                </a:xfrm>
                <a:prstGeom prst="line">
                  <a:avLst/>
                </a:prstGeom>
                <a:ln w="38100">
                  <a:solidFill>
                    <a:srgbClr val="00B0F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4E753BBE-DA59-B9CE-FFAF-211B827F92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89983" y="3734350"/>
                  <a:ext cx="1128508" cy="494484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A6F78FD-2A50-1FE1-7209-DB66DAEC99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0214" y="4177937"/>
                <a:ext cx="910704" cy="593305"/>
              </a:xfrm>
              <a:prstGeom prst="line">
                <a:avLst/>
              </a:prstGeom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584B23E-C165-5D6F-6CF8-4D02492F8AA6}"/>
                  </a:ext>
                </a:extLst>
              </p:cNvPr>
              <p:cNvSpPr txBox="1"/>
              <p:nvPr/>
            </p:nvSpPr>
            <p:spPr>
              <a:xfrm rot="18081193">
                <a:off x="5677522" y="3979396"/>
                <a:ext cx="54534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FFG1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B5B20C2-08FB-8F78-722A-5F5A3E325AA8}"/>
                  </a:ext>
                </a:extLst>
              </p:cNvPr>
              <p:cNvSpPr txBox="1"/>
              <p:nvPr/>
            </p:nvSpPr>
            <p:spPr>
              <a:xfrm rot="19504204">
                <a:off x="5945647" y="4040675"/>
                <a:ext cx="54534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FFG2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43AFDA7-D08A-C2D6-15FF-A5B30C5C9A03}"/>
                  </a:ext>
                </a:extLst>
              </p:cNvPr>
              <p:cNvSpPr txBox="1"/>
              <p:nvPr/>
            </p:nvSpPr>
            <p:spPr>
              <a:xfrm rot="20904999">
                <a:off x="6270971" y="4226597"/>
                <a:ext cx="32573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C92A288-0C4A-AEAC-BA3A-BED658140EE9}"/>
                  </a:ext>
                </a:extLst>
              </p:cNvPr>
              <p:cNvSpPr txBox="1"/>
              <p:nvPr/>
            </p:nvSpPr>
            <p:spPr>
              <a:xfrm rot="1672618">
                <a:off x="6079353" y="4632553"/>
                <a:ext cx="54534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FFG6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C310C0D-4FFF-EE5F-8D7A-66B2D5CBC203}"/>
                </a:ext>
              </a:extLst>
            </p:cNvPr>
            <p:cNvSpPr txBox="1"/>
            <p:nvPr/>
          </p:nvSpPr>
          <p:spPr>
            <a:xfrm>
              <a:off x="5299446" y="3487091"/>
              <a:ext cx="1333931" cy="267723"/>
            </a:xfrm>
            <a:prstGeom prst="roundRect">
              <a:avLst/>
            </a:prstGeom>
            <a:noFill/>
            <a:ln>
              <a:noFill/>
            </a:ln>
          </p:spPr>
          <p:txBody>
            <a:bodyPr wrap="none" lIns="36000" tIns="36000" rIns="36000" bIns="36000" rtlCol="0">
              <a:spAutoFit/>
            </a:bodyPr>
            <a:lstStyle/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H3: FFG Allometry</a:t>
              </a:r>
            </a:p>
          </p:txBody>
        </p:sp>
      </p:grpSp>
      <p:pic>
        <p:nvPicPr>
          <p:cNvPr id="74" name="Picture 73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03C3B666-A1CA-A5D5-EE60-590F98B32F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404" t="19628" r="18777" b="17115"/>
          <a:stretch/>
        </p:blipFill>
        <p:spPr>
          <a:xfrm>
            <a:off x="289889" y="4256963"/>
            <a:ext cx="1229909" cy="103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8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2E2C5-36ED-DA1D-271E-0FB275EE3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FA132B-D8EB-495D-9B51-B9530E22E0DF}"/>
              </a:ext>
            </a:extLst>
          </p:cNvPr>
          <p:cNvSpPr/>
          <p:nvPr/>
        </p:nvSpPr>
        <p:spPr>
          <a:xfrm>
            <a:off x="90971" y="464203"/>
            <a:ext cx="1819233" cy="209611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C5A0DA-DB94-4A60-AA4E-145D17BA66C1}"/>
              </a:ext>
            </a:extLst>
          </p:cNvPr>
          <p:cNvSpPr/>
          <p:nvPr/>
        </p:nvSpPr>
        <p:spPr>
          <a:xfrm>
            <a:off x="2017090" y="464203"/>
            <a:ext cx="2568357" cy="209611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A9B6008-72E5-26F2-50AB-03D96575C04A}"/>
              </a:ext>
            </a:extLst>
          </p:cNvPr>
          <p:cNvSpPr/>
          <p:nvPr/>
        </p:nvSpPr>
        <p:spPr>
          <a:xfrm>
            <a:off x="115052" y="3387021"/>
            <a:ext cx="1633920" cy="196115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7B23E44-2C7F-7998-46F3-130B682323D9}"/>
              </a:ext>
            </a:extLst>
          </p:cNvPr>
          <p:cNvSpPr/>
          <p:nvPr/>
        </p:nvSpPr>
        <p:spPr>
          <a:xfrm>
            <a:off x="1875971" y="3387022"/>
            <a:ext cx="4900252" cy="1961156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9" name="Right Brace 48">
            <a:extLst>
              <a:ext uri="{FF2B5EF4-FFF2-40B4-BE49-F238E27FC236}">
                <a16:creationId xmlns:a16="http://schemas.microsoft.com/office/drawing/2014/main" id="{66E076E8-1310-009B-DCFB-69BADB7FA1A6}"/>
              </a:ext>
            </a:extLst>
          </p:cNvPr>
          <p:cNvSpPr/>
          <p:nvPr/>
        </p:nvSpPr>
        <p:spPr>
          <a:xfrm rot="16200000">
            <a:off x="3275094" y="-620216"/>
            <a:ext cx="341086" cy="6661172"/>
          </a:xfrm>
          <a:prstGeom prst="rightBrace">
            <a:avLst>
              <a:gd name="adj1" fmla="val 31136"/>
              <a:gd name="adj2" fmla="val 49908"/>
            </a:avLst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70920"/>
                </a:schemeClr>
              </a:gs>
              <a:gs pos="83000">
                <a:schemeClr val="accent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B47FEFA2-BAB6-556D-1E6A-6277B1D79F40}"/>
              </a:ext>
            </a:extLst>
          </p:cNvPr>
          <p:cNvSpPr/>
          <p:nvPr/>
        </p:nvSpPr>
        <p:spPr>
          <a:xfrm>
            <a:off x="710167" y="868561"/>
            <a:ext cx="1080990" cy="949263"/>
          </a:xfrm>
          <a:prstGeom prst="can">
            <a:avLst>
              <a:gd name="adj" fmla="val 10939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200">
            <a:extLst>
              <a:ext uri="{FF2B5EF4-FFF2-40B4-BE49-F238E27FC236}">
                <a16:creationId xmlns:a16="http://schemas.microsoft.com/office/drawing/2014/main" id="{878FCF2C-BB78-B07E-7117-0041CBD7FEF1}"/>
              </a:ext>
            </a:extLst>
          </p:cNvPr>
          <p:cNvSpPr/>
          <p:nvPr/>
        </p:nvSpPr>
        <p:spPr>
          <a:xfrm flipH="1">
            <a:off x="750499" y="1003296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200">
            <a:extLst>
              <a:ext uri="{FF2B5EF4-FFF2-40B4-BE49-F238E27FC236}">
                <a16:creationId xmlns:a16="http://schemas.microsoft.com/office/drawing/2014/main" id="{62F979A2-354B-75DF-C8ED-82608DA56F7E}"/>
              </a:ext>
            </a:extLst>
          </p:cNvPr>
          <p:cNvSpPr/>
          <p:nvPr/>
        </p:nvSpPr>
        <p:spPr>
          <a:xfrm flipH="1">
            <a:off x="929693" y="1003296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200">
            <a:extLst>
              <a:ext uri="{FF2B5EF4-FFF2-40B4-BE49-F238E27FC236}">
                <a16:creationId xmlns:a16="http://schemas.microsoft.com/office/drawing/2014/main" id="{4AA872F0-1ADE-08A1-A934-DEAE9420EAA8}"/>
              </a:ext>
            </a:extLst>
          </p:cNvPr>
          <p:cNvSpPr/>
          <p:nvPr/>
        </p:nvSpPr>
        <p:spPr>
          <a:xfrm flipH="1">
            <a:off x="1108887" y="1003296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200">
            <a:extLst>
              <a:ext uri="{FF2B5EF4-FFF2-40B4-BE49-F238E27FC236}">
                <a16:creationId xmlns:a16="http://schemas.microsoft.com/office/drawing/2014/main" id="{A871F58A-9675-A8C3-31AD-78644F336750}"/>
              </a:ext>
            </a:extLst>
          </p:cNvPr>
          <p:cNvSpPr/>
          <p:nvPr/>
        </p:nvSpPr>
        <p:spPr>
          <a:xfrm flipH="1">
            <a:off x="1288081" y="1003296"/>
            <a:ext cx="72000" cy="72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200">
            <a:extLst>
              <a:ext uri="{FF2B5EF4-FFF2-40B4-BE49-F238E27FC236}">
                <a16:creationId xmlns:a16="http://schemas.microsoft.com/office/drawing/2014/main" id="{F14FC540-22DD-9BE8-79B2-F1507AF24821}"/>
              </a:ext>
            </a:extLst>
          </p:cNvPr>
          <p:cNvSpPr/>
          <p:nvPr/>
        </p:nvSpPr>
        <p:spPr>
          <a:xfrm flipH="1">
            <a:off x="1467275" y="1003296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200">
            <a:extLst>
              <a:ext uri="{FF2B5EF4-FFF2-40B4-BE49-F238E27FC236}">
                <a16:creationId xmlns:a16="http://schemas.microsoft.com/office/drawing/2014/main" id="{322E3DD1-D1F7-3BAC-BB3E-B1CE5F394C63}"/>
              </a:ext>
            </a:extLst>
          </p:cNvPr>
          <p:cNvSpPr/>
          <p:nvPr/>
        </p:nvSpPr>
        <p:spPr>
          <a:xfrm flipH="1">
            <a:off x="1643642" y="1003296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200">
            <a:extLst>
              <a:ext uri="{FF2B5EF4-FFF2-40B4-BE49-F238E27FC236}">
                <a16:creationId xmlns:a16="http://schemas.microsoft.com/office/drawing/2014/main" id="{3AFE26CE-0E11-E88A-7442-753C436BDADE}"/>
              </a:ext>
            </a:extLst>
          </p:cNvPr>
          <p:cNvSpPr/>
          <p:nvPr/>
        </p:nvSpPr>
        <p:spPr>
          <a:xfrm flipH="1">
            <a:off x="750499" y="1143081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200">
            <a:extLst>
              <a:ext uri="{FF2B5EF4-FFF2-40B4-BE49-F238E27FC236}">
                <a16:creationId xmlns:a16="http://schemas.microsoft.com/office/drawing/2014/main" id="{A86C4CBE-F057-64C0-2FE4-C9F002B4EFC4}"/>
              </a:ext>
            </a:extLst>
          </p:cNvPr>
          <p:cNvSpPr/>
          <p:nvPr/>
        </p:nvSpPr>
        <p:spPr>
          <a:xfrm flipH="1">
            <a:off x="929128" y="1143081"/>
            <a:ext cx="72000" cy="72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Shape 200">
            <a:extLst>
              <a:ext uri="{FF2B5EF4-FFF2-40B4-BE49-F238E27FC236}">
                <a16:creationId xmlns:a16="http://schemas.microsoft.com/office/drawing/2014/main" id="{7A875C62-796D-D737-7CA4-FBD6B111EAD7}"/>
              </a:ext>
            </a:extLst>
          </p:cNvPr>
          <p:cNvSpPr/>
          <p:nvPr/>
        </p:nvSpPr>
        <p:spPr>
          <a:xfrm flipH="1">
            <a:off x="1107757" y="1143081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200">
            <a:extLst>
              <a:ext uri="{FF2B5EF4-FFF2-40B4-BE49-F238E27FC236}">
                <a16:creationId xmlns:a16="http://schemas.microsoft.com/office/drawing/2014/main" id="{64F6CA93-A3EF-3146-2CB3-D69E3AF18095}"/>
              </a:ext>
            </a:extLst>
          </p:cNvPr>
          <p:cNvSpPr/>
          <p:nvPr/>
        </p:nvSpPr>
        <p:spPr>
          <a:xfrm flipH="1">
            <a:off x="1286386" y="1143081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Shape 200">
            <a:extLst>
              <a:ext uri="{FF2B5EF4-FFF2-40B4-BE49-F238E27FC236}">
                <a16:creationId xmlns:a16="http://schemas.microsoft.com/office/drawing/2014/main" id="{450887A8-A716-DCED-AF60-BC2803DA1448}"/>
              </a:ext>
            </a:extLst>
          </p:cNvPr>
          <p:cNvSpPr/>
          <p:nvPr/>
        </p:nvSpPr>
        <p:spPr>
          <a:xfrm flipH="1">
            <a:off x="1465015" y="1143081"/>
            <a:ext cx="72000" cy="72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Shape 200">
            <a:extLst>
              <a:ext uri="{FF2B5EF4-FFF2-40B4-BE49-F238E27FC236}">
                <a16:creationId xmlns:a16="http://schemas.microsoft.com/office/drawing/2014/main" id="{D2198538-658C-0F23-14E6-61E57E5E3B37}"/>
              </a:ext>
            </a:extLst>
          </p:cNvPr>
          <p:cNvSpPr/>
          <p:nvPr/>
        </p:nvSpPr>
        <p:spPr>
          <a:xfrm flipH="1">
            <a:off x="1643642" y="1143081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200">
            <a:extLst>
              <a:ext uri="{FF2B5EF4-FFF2-40B4-BE49-F238E27FC236}">
                <a16:creationId xmlns:a16="http://schemas.microsoft.com/office/drawing/2014/main" id="{B77E5D84-7A19-5849-D522-D0BF515D7FE6}"/>
              </a:ext>
            </a:extLst>
          </p:cNvPr>
          <p:cNvSpPr/>
          <p:nvPr/>
        </p:nvSpPr>
        <p:spPr>
          <a:xfrm flipH="1">
            <a:off x="750499" y="127735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200">
            <a:extLst>
              <a:ext uri="{FF2B5EF4-FFF2-40B4-BE49-F238E27FC236}">
                <a16:creationId xmlns:a16="http://schemas.microsoft.com/office/drawing/2014/main" id="{DB6D9896-F4BD-DE2A-B04D-B13E04869D5D}"/>
              </a:ext>
            </a:extLst>
          </p:cNvPr>
          <p:cNvSpPr/>
          <p:nvPr/>
        </p:nvSpPr>
        <p:spPr>
          <a:xfrm flipH="1">
            <a:off x="929128" y="127735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200">
            <a:extLst>
              <a:ext uri="{FF2B5EF4-FFF2-40B4-BE49-F238E27FC236}">
                <a16:creationId xmlns:a16="http://schemas.microsoft.com/office/drawing/2014/main" id="{685B3976-FF4D-8AEB-F267-12AB3CF361C8}"/>
              </a:ext>
            </a:extLst>
          </p:cNvPr>
          <p:cNvSpPr/>
          <p:nvPr/>
        </p:nvSpPr>
        <p:spPr>
          <a:xfrm flipH="1">
            <a:off x="1107757" y="127735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Shape 200">
            <a:extLst>
              <a:ext uri="{FF2B5EF4-FFF2-40B4-BE49-F238E27FC236}">
                <a16:creationId xmlns:a16="http://schemas.microsoft.com/office/drawing/2014/main" id="{2E2A313F-A3DD-9B62-94F3-D99C48779BA6}"/>
              </a:ext>
            </a:extLst>
          </p:cNvPr>
          <p:cNvSpPr/>
          <p:nvPr/>
        </p:nvSpPr>
        <p:spPr>
          <a:xfrm flipH="1">
            <a:off x="1286386" y="127735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200">
            <a:extLst>
              <a:ext uri="{FF2B5EF4-FFF2-40B4-BE49-F238E27FC236}">
                <a16:creationId xmlns:a16="http://schemas.microsoft.com/office/drawing/2014/main" id="{E71785D4-A345-B73F-0CC3-3E556091D04F}"/>
              </a:ext>
            </a:extLst>
          </p:cNvPr>
          <p:cNvSpPr/>
          <p:nvPr/>
        </p:nvSpPr>
        <p:spPr>
          <a:xfrm flipH="1">
            <a:off x="1465015" y="127735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Shape 200">
            <a:extLst>
              <a:ext uri="{FF2B5EF4-FFF2-40B4-BE49-F238E27FC236}">
                <a16:creationId xmlns:a16="http://schemas.microsoft.com/office/drawing/2014/main" id="{C07C9CA4-11A2-25E0-DED0-40D3C66389B6}"/>
              </a:ext>
            </a:extLst>
          </p:cNvPr>
          <p:cNvSpPr/>
          <p:nvPr/>
        </p:nvSpPr>
        <p:spPr>
          <a:xfrm flipH="1">
            <a:off x="1643642" y="127735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Shape 200">
            <a:extLst>
              <a:ext uri="{FF2B5EF4-FFF2-40B4-BE49-F238E27FC236}">
                <a16:creationId xmlns:a16="http://schemas.microsoft.com/office/drawing/2014/main" id="{C2065FFD-7F2E-24CA-1F81-BCE9523404E7}"/>
              </a:ext>
            </a:extLst>
          </p:cNvPr>
          <p:cNvSpPr/>
          <p:nvPr/>
        </p:nvSpPr>
        <p:spPr>
          <a:xfrm flipH="1">
            <a:off x="750499" y="1416648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Shape 200">
            <a:extLst>
              <a:ext uri="{FF2B5EF4-FFF2-40B4-BE49-F238E27FC236}">
                <a16:creationId xmlns:a16="http://schemas.microsoft.com/office/drawing/2014/main" id="{F116D87A-D5C9-5C67-80ED-E114B0DAAC82}"/>
              </a:ext>
            </a:extLst>
          </p:cNvPr>
          <p:cNvSpPr/>
          <p:nvPr/>
        </p:nvSpPr>
        <p:spPr>
          <a:xfrm flipH="1">
            <a:off x="929128" y="1416648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200">
            <a:extLst>
              <a:ext uri="{FF2B5EF4-FFF2-40B4-BE49-F238E27FC236}">
                <a16:creationId xmlns:a16="http://schemas.microsoft.com/office/drawing/2014/main" id="{37AD667B-7485-DFC9-B0D7-DE463EE16A49}"/>
              </a:ext>
            </a:extLst>
          </p:cNvPr>
          <p:cNvSpPr/>
          <p:nvPr/>
        </p:nvSpPr>
        <p:spPr>
          <a:xfrm flipH="1">
            <a:off x="1107757" y="1416648"/>
            <a:ext cx="72000" cy="72000"/>
          </a:xfrm>
          <a:prstGeom prst="ellipse">
            <a:avLst/>
          </a:prstGeom>
          <a:solidFill>
            <a:schemeClr val="accent2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200">
            <a:extLst>
              <a:ext uri="{FF2B5EF4-FFF2-40B4-BE49-F238E27FC236}">
                <a16:creationId xmlns:a16="http://schemas.microsoft.com/office/drawing/2014/main" id="{1FFD2BE9-A3F8-7CB2-577F-5CD6BC16B2C6}"/>
              </a:ext>
            </a:extLst>
          </p:cNvPr>
          <p:cNvSpPr/>
          <p:nvPr/>
        </p:nvSpPr>
        <p:spPr>
          <a:xfrm flipH="1">
            <a:off x="1286386" y="1416648"/>
            <a:ext cx="72000" cy="72000"/>
          </a:xfrm>
          <a:prstGeom prst="ellipse">
            <a:avLst/>
          </a:prstGeom>
          <a:solidFill>
            <a:srgbClr val="FFD778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200">
            <a:extLst>
              <a:ext uri="{FF2B5EF4-FFF2-40B4-BE49-F238E27FC236}">
                <a16:creationId xmlns:a16="http://schemas.microsoft.com/office/drawing/2014/main" id="{65CAE125-7B9E-3060-F1C4-385B0D827457}"/>
              </a:ext>
            </a:extLst>
          </p:cNvPr>
          <p:cNvSpPr/>
          <p:nvPr/>
        </p:nvSpPr>
        <p:spPr>
          <a:xfrm flipH="1">
            <a:off x="1465015" y="1416648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Shape 200">
            <a:extLst>
              <a:ext uri="{FF2B5EF4-FFF2-40B4-BE49-F238E27FC236}">
                <a16:creationId xmlns:a16="http://schemas.microsoft.com/office/drawing/2014/main" id="{922D10E3-D646-4D86-3088-ED0049DD80E5}"/>
              </a:ext>
            </a:extLst>
          </p:cNvPr>
          <p:cNvSpPr/>
          <p:nvPr/>
        </p:nvSpPr>
        <p:spPr>
          <a:xfrm flipH="1">
            <a:off x="1643642" y="1416648"/>
            <a:ext cx="72000" cy="72000"/>
          </a:xfrm>
          <a:prstGeom prst="ellipse">
            <a:avLst/>
          </a:prstGeom>
          <a:solidFill>
            <a:schemeClr val="accent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Shape 200">
            <a:extLst>
              <a:ext uri="{FF2B5EF4-FFF2-40B4-BE49-F238E27FC236}">
                <a16:creationId xmlns:a16="http://schemas.microsoft.com/office/drawing/2014/main" id="{43A61385-C880-0A18-745E-89C2784EFC49}"/>
              </a:ext>
            </a:extLst>
          </p:cNvPr>
          <p:cNvSpPr/>
          <p:nvPr/>
        </p:nvSpPr>
        <p:spPr>
          <a:xfrm flipH="1">
            <a:off x="750499" y="1551190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Shape 200">
            <a:extLst>
              <a:ext uri="{FF2B5EF4-FFF2-40B4-BE49-F238E27FC236}">
                <a16:creationId xmlns:a16="http://schemas.microsoft.com/office/drawing/2014/main" id="{64C46934-F808-5828-095A-88C5109FEB7D}"/>
              </a:ext>
            </a:extLst>
          </p:cNvPr>
          <p:cNvSpPr/>
          <p:nvPr/>
        </p:nvSpPr>
        <p:spPr>
          <a:xfrm flipH="1">
            <a:off x="929128" y="1551190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Shape 200">
            <a:extLst>
              <a:ext uri="{FF2B5EF4-FFF2-40B4-BE49-F238E27FC236}">
                <a16:creationId xmlns:a16="http://schemas.microsoft.com/office/drawing/2014/main" id="{1E39AEE2-864B-3B59-BE15-E88A31BCF665}"/>
              </a:ext>
            </a:extLst>
          </p:cNvPr>
          <p:cNvSpPr/>
          <p:nvPr/>
        </p:nvSpPr>
        <p:spPr>
          <a:xfrm flipH="1">
            <a:off x="1107757" y="1551190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Shape 200">
            <a:extLst>
              <a:ext uri="{FF2B5EF4-FFF2-40B4-BE49-F238E27FC236}">
                <a16:creationId xmlns:a16="http://schemas.microsoft.com/office/drawing/2014/main" id="{2C7A2C3C-2A08-D3E3-9982-1346E4C44354}"/>
              </a:ext>
            </a:extLst>
          </p:cNvPr>
          <p:cNvSpPr/>
          <p:nvPr/>
        </p:nvSpPr>
        <p:spPr>
          <a:xfrm flipH="1">
            <a:off x="1286386" y="1551190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200">
            <a:extLst>
              <a:ext uri="{FF2B5EF4-FFF2-40B4-BE49-F238E27FC236}">
                <a16:creationId xmlns:a16="http://schemas.microsoft.com/office/drawing/2014/main" id="{02B93C04-7F04-7658-9260-6768B030E952}"/>
              </a:ext>
            </a:extLst>
          </p:cNvPr>
          <p:cNvSpPr/>
          <p:nvPr/>
        </p:nvSpPr>
        <p:spPr>
          <a:xfrm flipH="1">
            <a:off x="1465015" y="1551190"/>
            <a:ext cx="72000" cy="72000"/>
          </a:xfrm>
          <a:prstGeom prst="ellipse">
            <a:avLst/>
          </a:prstGeom>
          <a:solidFill>
            <a:schemeClr val="accent4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Shape 200">
            <a:extLst>
              <a:ext uri="{FF2B5EF4-FFF2-40B4-BE49-F238E27FC236}">
                <a16:creationId xmlns:a16="http://schemas.microsoft.com/office/drawing/2014/main" id="{4BC09684-EF61-ECEE-82EA-2EFA1109436E}"/>
              </a:ext>
            </a:extLst>
          </p:cNvPr>
          <p:cNvSpPr/>
          <p:nvPr/>
        </p:nvSpPr>
        <p:spPr>
          <a:xfrm flipH="1">
            <a:off x="1643642" y="1551190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Shape 200">
            <a:extLst>
              <a:ext uri="{FF2B5EF4-FFF2-40B4-BE49-F238E27FC236}">
                <a16:creationId xmlns:a16="http://schemas.microsoft.com/office/drawing/2014/main" id="{2966DB10-4B51-8AE7-4655-FB0E6C3C219E}"/>
              </a:ext>
            </a:extLst>
          </p:cNvPr>
          <p:cNvSpPr/>
          <p:nvPr/>
        </p:nvSpPr>
        <p:spPr>
          <a:xfrm flipH="1">
            <a:off x="750499" y="1685732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Shape 200">
            <a:extLst>
              <a:ext uri="{FF2B5EF4-FFF2-40B4-BE49-F238E27FC236}">
                <a16:creationId xmlns:a16="http://schemas.microsoft.com/office/drawing/2014/main" id="{C2D74A4B-A373-FA9E-F71B-E9AA9385E29D}"/>
              </a:ext>
            </a:extLst>
          </p:cNvPr>
          <p:cNvSpPr/>
          <p:nvPr/>
        </p:nvSpPr>
        <p:spPr>
          <a:xfrm flipH="1">
            <a:off x="929128" y="168573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Shape 200">
            <a:extLst>
              <a:ext uri="{FF2B5EF4-FFF2-40B4-BE49-F238E27FC236}">
                <a16:creationId xmlns:a16="http://schemas.microsoft.com/office/drawing/2014/main" id="{65DB4BDE-3138-C141-0A29-4F285A96C1D7}"/>
              </a:ext>
            </a:extLst>
          </p:cNvPr>
          <p:cNvSpPr/>
          <p:nvPr/>
        </p:nvSpPr>
        <p:spPr>
          <a:xfrm flipH="1">
            <a:off x="1107757" y="168573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Shape 200">
            <a:extLst>
              <a:ext uri="{FF2B5EF4-FFF2-40B4-BE49-F238E27FC236}">
                <a16:creationId xmlns:a16="http://schemas.microsoft.com/office/drawing/2014/main" id="{9C962D8C-65A2-6709-6ACB-9ACD2C2EE7E1}"/>
              </a:ext>
            </a:extLst>
          </p:cNvPr>
          <p:cNvSpPr/>
          <p:nvPr/>
        </p:nvSpPr>
        <p:spPr>
          <a:xfrm flipH="1">
            <a:off x="1286386" y="168573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Shape 200">
            <a:extLst>
              <a:ext uri="{FF2B5EF4-FFF2-40B4-BE49-F238E27FC236}">
                <a16:creationId xmlns:a16="http://schemas.microsoft.com/office/drawing/2014/main" id="{81FE79E7-C87A-7A0F-B9A6-044747BCB002}"/>
              </a:ext>
            </a:extLst>
          </p:cNvPr>
          <p:cNvSpPr/>
          <p:nvPr/>
        </p:nvSpPr>
        <p:spPr>
          <a:xfrm flipH="1">
            <a:off x="1465015" y="168573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Shape 200">
            <a:extLst>
              <a:ext uri="{FF2B5EF4-FFF2-40B4-BE49-F238E27FC236}">
                <a16:creationId xmlns:a16="http://schemas.microsoft.com/office/drawing/2014/main" id="{99122CEA-5E8C-CA7C-4D25-8BB02CC0F280}"/>
              </a:ext>
            </a:extLst>
          </p:cNvPr>
          <p:cNvSpPr/>
          <p:nvPr/>
        </p:nvSpPr>
        <p:spPr>
          <a:xfrm flipH="1">
            <a:off x="1643642" y="1685732"/>
            <a:ext cx="72000" cy="72000"/>
          </a:xfrm>
          <a:prstGeom prst="ellipse">
            <a:avLst/>
          </a:prstGeom>
          <a:solidFill>
            <a:srgbClr val="D1D1D1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0D97164-A771-869C-41FB-2D00ABE9C7FE}"/>
              </a:ext>
            </a:extLst>
          </p:cNvPr>
          <p:cNvSpPr txBox="1"/>
          <p:nvPr/>
        </p:nvSpPr>
        <p:spPr>
          <a:xfrm>
            <a:off x="121320" y="187205"/>
            <a:ext cx="1614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Broad Motivation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699EC2E-02AB-8534-1E8D-395A2A3A3634}"/>
              </a:ext>
            </a:extLst>
          </p:cNvPr>
          <p:cNvSpPr txBox="1"/>
          <p:nvPr/>
        </p:nvSpPr>
        <p:spPr>
          <a:xfrm>
            <a:off x="208587" y="455476"/>
            <a:ext cx="15151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Sparse toxicity</a:t>
            </a:r>
            <a:r>
              <a:rPr lang="zh-CN" alt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907F638-DF84-F09B-22ED-64F6D45D8DB5}"/>
              </a:ext>
            </a:extLst>
          </p:cNvPr>
          <p:cNvSpPr txBox="1"/>
          <p:nvPr/>
        </p:nvSpPr>
        <p:spPr>
          <a:xfrm>
            <a:off x="43336" y="857238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Species</a:t>
            </a:r>
          </a:p>
        </p:txBody>
      </p:sp>
      <p:sp>
        <p:nvSpPr>
          <p:cNvPr id="132" name="Left Brace 131">
            <a:extLst>
              <a:ext uri="{FF2B5EF4-FFF2-40B4-BE49-F238E27FC236}">
                <a16:creationId xmlns:a16="http://schemas.microsoft.com/office/drawing/2014/main" id="{3E69B025-177E-9B65-B58D-D2DF410095C5}"/>
              </a:ext>
            </a:extLst>
          </p:cNvPr>
          <p:cNvSpPr/>
          <p:nvPr/>
        </p:nvSpPr>
        <p:spPr>
          <a:xfrm>
            <a:off x="158591" y="1237086"/>
            <a:ext cx="85852" cy="406655"/>
          </a:xfrm>
          <a:prstGeom prst="leftBrac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A9D9062-451F-7900-FD17-1CF2E67133D7}"/>
              </a:ext>
            </a:extLst>
          </p:cNvPr>
          <p:cNvSpPr txBox="1"/>
          <p:nvPr/>
        </p:nvSpPr>
        <p:spPr>
          <a:xfrm>
            <a:off x="185438" y="1620916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AC40685-3598-90E0-D6EB-168F7B0C8A65}"/>
              </a:ext>
            </a:extLst>
          </p:cNvPr>
          <p:cNvSpPr txBox="1"/>
          <p:nvPr/>
        </p:nvSpPr>
        <p:spPr>
          <a:xfrm>
            <a:off x="904844" y="1755556"/>
            <a:ext cx="8451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Chemicals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FD8B341-9AA3-81A4-750B-703F4A8E502A}"/>
              </a:ext>
            </a:extLst>
          </p:cNvPr>
          <p:cNvSpPr txBox="1"/>
          <p:nvPr/>
        </p:nvSpPr>
        <p:spPr>
          <a:xfrm>
            <a:off x="90971" y="2083795"/>
            <a:ext cx="181009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Most species-chemical combinations are untested.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8A6A92F-0E45-3C74-AB54-25DC6828C637}"/>
              </a:ext>
            </a:extLst>
          </p:cNvPr>
          <p:cNvSpPr txBox="1"/>
          <p:nvPr/>
        </p:nvSpPr>
        <p:spPr>
          <a:xfrm>
            <a:off x="2485574" y="184477"/>
            <a:ext cx="1701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2. This Study Design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99B0487-0CA9-6825-1F05-D62DF78D3385}"/>
              </a:ext>
            </a:extLst>
          </p:cNvPr>
          <p:cNvSpPr txBox="1"/>
          <p:nvPr/>
        </p:nvSpPr>
        <p:spPr>
          <a:xfrm>
            <a:off x="2332090" y="464202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Inputs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98588BA-8525-56B8-CEDA-153032D27F0C}"/>
              </a:ext>
            </a:extLst>
          </p:cNvPr>
          <p:cNvSpPr txBox="1"/>
          <p:nvPr/>
        </p:nvSpPr>
        <p:spPr>
          <a:xfrm>
            <a:off x="2053753" y="782249"/>
            <a:ext cx="1097162" cy="14927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Body mass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Functional group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Phylogeny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Chemical-use group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AD91DEF-BC87-328F-9139-521FE0AAECD2}"/>
              </a:ext>
            </a:extLst>
          </p:cNvPr>
          <p:cNvSpPr/>
          <p:nvPr/>
        </p:nvSpPr>
        <p:spPr>
          <a:xfrm>
            <a:off x="4688072" y="471714"/>
            <a:ext cx="2088151" cy="2076258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9342993-3BFF-8F14-678A-910CC553ACC0}"/>
              </a:ext>
            </a:extLst>
          </p:cNvPr>
          <p:cNvSpPr txBox="1"/>
          <p:nvPr/>
        </p:nvSpPr>
        <p:spPr>
          <a:xfrm>
            <a:off x="3632587" y="46420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Outputs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C521921-CCE5-4A16-4269-BC141386955A}"/>
              </a:ext>
            </a:extLst>
          </p:cNvPr>
          <p:cNvSpPr/>
          <p:nvPr/>
        </p:nvSpPr>
        <p:spPr>
          <a:xfrm>
            <a:off x="5423340" y="906431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05FD36A4-8842-A6CA-64E8-373AF56AF406}"/>
              </a:ext>
            </a:extLst>
          </p:cNvPr>
          <p:cNvSpPr/>
          <p:nvPr/>
        </p:nvSpPr>
        <p:spPr>
          <a:xfrm>
            <a:off x="5601489" y="906431"/>
            <a:ext cx="144000" cy="14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48D4F6E1-3901-180D-466F-920A859EF8D4}"/>
              </a:ext>
            </a:extLst>
          </p:cNvPr>
          <p:cNvSpPr/>
          <p:nvPr/>
        </p:nvSpPr>
        <p:spPr>
          <a:xfrm>
            <a:off x="5779638" y="906431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2BB5511-211D-64C2-D038-21E9DF4574FE}"/>
              </a:ext>
            </a:extLst>
          </p:cNvPr>
          <p:cNvSpPr/>
          <p:nvPr/>
        </p:nvSpPr>
        <p:spPr>
          <a:xfrm>
            <a:off x="5403078" y="869854"/>
            <a:ext cx="540000" cy="3817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457B59B3-CEDD-618C-7914-5A5D697A6507}"/>
              </a:ext>
            </a:extLst>
          </p:cNvPr>
          <p:cNvSpPr/>
          <p:nvPr/>
        </p:nvSpPr>
        <p:spPr>
          <a:xfrm>
            <a:off x="5001226" y="1503240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3B4BD5CC-579E-90C7-2A7A-F0CA0428BCA9}"/>
              </a:ext>
            </a:extLst>
          </p:cNvPr>
          <p:cNvSpPr/>
          <p:nvPr/>
        </p:nvSpPr>
        <p:spPr>
          <a:xfrm>
            <a:off x="5184113" y="1503240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0062F8D4-B257-76BF-79F1-66A76FC99958}"/>
              </a:ext>
            </a:extLst>
          </p:cNvPr>
          <p:cNvSpPr/>
          <p:nvPr/>
        </p:nvSpPr>
        <p:spPr>
          <a:xfrm>
            <a:off x="5367001" y="1503240"/>
            <a:ext cx="144000" cy="144000"/>
          </a:xfrm>
          <a:prstGeom prst="ellipse">
            <a:avLst/>
          </a:prstGeom>
          <a:solidFill>
            <a:schemeClr val="accent2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901BA08-3553-B89D-2567-F4435FE63129}"/>
              </a:ext>
            </a:extLst>
          </p:cNvPr>
          <p:cNvSpPr/>
          <p:nvPr/>
        </p:nvSpPr>
        <p:spPr>
          <a:xfrm>
            <a:off x="4980964" y="1473583"/>
            <a:ext cx="540000" cy="38176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F0218BC7-54AE-A545-CF5F-3D5E19A15E93}"/>
              </a:ext>
            </a:extLst>
          </p:cNvPr>
          <p:cNvSpPr/>
          <p:nvPr/>
        </p:nvSpPr>
        <p:spPr>
          <a:xfrm>
            <a:off x="5923419" y="1513066"/>
            <a:ext cx="144000" cy="144000"/>
          </a:xfrm>
          <a:prstGeom prst="ellipse">
            <a:avLst/>
          </a:prstGeom>
          <a:solidFill>
            <a:srgbClr val="FFD778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9A33C57-54CF-18D8-68FB-951274A125A5}"/>
              </a:ext>
            </a:extLst>
          </p:cNvPr>
          <p:cNvSpPr/>
          <p:nvPr/>
        </p:nvSpPr>
        <p:spPr>
          <a:xfrm>
            <a:off x="6104199" y="151306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0F59A949-DFF6-A202-D4C3-DD0DA569ED52}"/>
              </a:ext>
            </a:extLst>
          </p:cNvPr>
          <p:cNvSpPr/>
          <p:nvPr/>
        </p:nvSpPr>
        <p:spPr>
          <a:xfrm>
            <a:off x="6284980" y="151306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896C45D-4D8D-446B-5043-DFBE3F44FB01}"/>
              </a:ext>
            </a:extLst>
          </p:cNvPr>
          <p:cNvSpPr/>
          <p:nvPr/>
        </p:nvSpPr>
        <p:spPr>
          <a:xfrm>
            <a:off x="5902668" y="1473583"/>
            <a:ext cx="540000" cy="3817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98C54BE-2C3E-F263-5310-8C9184E11AD6}"/>
              </a:ext>
            </a:extLst>
          </p:cNvPr>
          <p:cNvSpPr/>
          <p:nvPr/>
        </p:nvSpPr>
        <p:spPr>
          <a:xfrm>
            <a:off x="4747408" y="2138006"/>
            <a:ext cx="144000" cy="14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FE402D87-D3F4-DA7D-8A28-684A95F558A0}"/>
              </a:ext>
            </a:extLst>
          </p:cNvPr>
          <p:cNvSpPr/>
          <p:nvPr/>
        </p:nvSpPr>
        <p:spPr>
          <a:xfrm>
            <a:off x="4918846" y="213800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F94534E1-8FDD-E373-45F5-17B5CDB35478}"/>
              </a:ext>
            </a:extLst>
          </p:cNvPr>
          <p:cNvSpPr/>
          <p:nvPr/>
        </p:nvSpPr>
        <p:spPr>
          <a:xfrm>
            <a:off x="5090283" y="213800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DBC92FD-B5D3-FB31-74B8-8729B61C1EE7}"/>
              </a:ext>
            </a:extLst>
          </p:cNvPr>
          <p:cNvSpPr/>
          <p:nvPr/>
        </p:nvSpPr>
        <p:spPr>
          <a:xfrm>
            <a:off x="4726091" y="2081594"/>
            <a:ext cx="540000" cy="42665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3CCBF28E-DB48-701A-ED1B-60415D0CB323}"/>
              </a:ext>
            </a:extLst>
          </p:cNvPr>
          <p:cNvSpPr/>
          <p:nvPr/>
        </p:nvSpPr>
        <p:spPr>
          <a:xfrm>
            <a:off x="5489192" y="2127837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7817402E-E195-67F7-89FB-6647F74E3191}"/>
              </a:ext>
            </a:extLst>
          </p:cNvPr>
          <p:cNvSpPr/>
          <p:nvPr/>
        </p:nvSpPr>
        <p:spPr>
          <a:xfrm>
            <a:off x="5665406" y="2127837"/>
            <a:ext cx="144000" cy="144000"/>
          </a:xfrm>
          <a:prstGeom prst="ellipse">
            <a:avLst/>
          </a:prstGeom>
          <a:solidFill>
            <a:schemeClr val="accent4"/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413EF93B-BFE4-10EF-80A8-8B1AE1AA0B74}"/>
              </a:ext>
            </a:extLst>
          </p:cNvPr>
          <p:cNvSpPr/>
          <p:nvPr/>
        </p:nvSpPr>
        <p:spPr>
          <a:xfrm>
            <a:off x="5841620" y="2127837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0CBC149-25E0-EF27-ACC7-47CE15FF578F}"/>
              </a:ext>
            </a:extLst>
          </p:cNvPr>
          <p:cNvSpPr/>
          <p:nvPr/>
        </p:nvSpPr>
        <p:spPr>
          <a:xfrm>
            <a:off x="5468930" y="2084923"/>
            <a:ext cx="540000" cy="42665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33D54BC2-D585-5A40-3947-1CDA66970312}"/>
              </a:ext>
            </a:extLst>
          </p:cNvPr>
          <p:cNvSpPr/>
          <p:nvPr/>
        </p:nvSpPr>
        <p:spPr>
          <a:xfrm>
            <a:off x="6208024" y="214329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8016D816-0A3B-CFC0-4D3A-255E1A045D43}"/>
              </a:ext>
            </a:extLst>
          </p:cNvPr>
          <p:cNvSpPr/>
          <p:nvPr/>
        </p:nvSpPr>
        <p:spPr>
          <a:xfrm>
            <a:off x="6380411" y="2143296"/>
            <a:ext cx="144000" cy="144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7E736E99-4552-D759-FE0C-244F16E467F5}"/>
              </a:ext>
            </a:extLst>
          </p:cNvPr>
          <p:cNvSpPr/>
          <p:nvPr/>
        </p:nvSpPr>
        <p:spPr>
          <a:xfrm>
            <a:off x="6552798" y="2143296"/>
            <a:ext cx="144000" cy="144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rgbClr val="5F6B75"/>
            </a:solidFill>
            <a:prstDash val="solid"/>
          </a:ln>
        </p:spPr>
        <p:txBody>
          <a:bodyPr/>
          <a:lstStyle/>
          <a:p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7619A9E-9A11-3B71-5E68-57F206B47A54}"/>
              </a:ext>
            </a:extLst>
          </p:cNvPr>
          <p:cNvSpPr/>
          <p:nvPr/>
        </p:nvSpPr>
        <p:spPr>
          <a:xfrm>
            <a:off x="6187762" y="2084923"/>
            <a:ext cx="540000" cy="423326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6156179F-3623-D206-F947-F6704A91CEB2}"/>
              </a:ext>
            </a:extLst>
          </p:cNvPr>
          <p:cNvCxnSpPr>
            <a:cxnSpLocks/>
            <a:stCxn id="164" idx="0"/>
            <a:endCxn id="160" idx="2"/>
          </p:cNvCxnSpPr>
          <p:nvPr/>
        </p:nvCxnSpPr>
        <p:spPr>
          <a:xfrm flipV="1">
            <a:off x="5250964" y="1251621"/>
            <a:ext cx="422114" cy="22196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FDFDEBE8-D491-665C-3BCC-A1FAE0EFB413}"/>
              </a:ext>
            </a:extLst>
          </p:cNvPr>
          <p:cNvCxnSpPr>
            <a:cxnSpLocks/>
            <a:stCxn id="168" idx="0"/>
            <a:endCxn id="160" idx="2"/>
          </p:cNvCxnSpPr>
          <p:nvPr/>
        </p:nvCxnSpPr>
        <p:spPr>
          <a:xfrm flipH="1" flipV="1">
            <a:off x="5673078" y="1251621"/>
            <a:ext cx="499590" cy="22196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79AA107F-66E8-F36F-2B88-8E802AFA2D4F}"/>
              </a:ext>
            </a:extLst>
          </p:cNvPr>
          <p:cNvCxnSpPr>
            <a:cxnSpLocks/>
            <a:stCxn id="172" idx="0"/>
            <a:endCxn id="164" idx="2"/>
          </p:cNvCxnSpPr>
          <p:nvPr/>
        </p:nvCxnSpPr>
        <p:spPr>
          <a:xfrm flipV="1">
            <a:off x="4996091" y="1855351"/>
            <a:ext cx="254873" cy="22624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97EF3A9-F814-3FD0-1DAC-A6AAF1E000B7}"/>
              </a:ext>
            </a:extLst>
          </p:cNvPr>
          <p:cNvCxnSpPr>
            <a:cxnSpLocks/>
            <a:stCxn id="176" idx="0"/>
            <a:endCxn id="164" idx="2"/>
          </p:cNvCxnSpPr>
          <p:nvPr/>
        </p:nvCxnSpPr>
        <p:spPr>
          <a:xfrm flipH="1" flipV="1">
            <a:off x="5250964" y="1855351"/>
            <a:ext cx="487966" cy="2295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14F7686B-AF5B-706F-DCA7-948CB4EB009B}"/>
              </a:ext>
            </a:extLst>
          </p:cNvPr>
          <p:cNvCxnSpPr>
            <a:cxnSpLocks/>
            <a:stCxn id="176" idx="0"/>
            <a:endCxn id="168" idx="2"/>
          </p:cNvCxnSpPr>
          <p:nvPr/>
        </p:nvCxnSpPr>
        <p:spPr>
          <a:xfrm flipV="1">
            <a:off x="5738930" y="1855350"/>
            <a:ext cx="433738" cy="22957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9E720AA-B178-0149-6CB7-B00D0983ADF9}"/>
              </a:ext>
            </a:extLst>
          </p:cNvPr>
          <p:cNvCxnSpPr>
            <a:cxnSpLocks/>
            <a:stCxn id="180" idx="0"/>
            <a:endCxn id="168" idx="2"/>
          </p:cNvCxnSpPr>
          <p:nvPr/>
        </p:nvCxnSpPr>
        <p:spPr>
          <a:xfrm flipH="1" flipV="1">
            <a:off x="6172668" y="1855350"/>
            <a:ext cx="285094" cy="22957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E568333-3064-F0EC-53C8-F675476466E0}"/>
              </a:ext>
            </a:extLst>
          </p:cNvPr>
          <p:cNvSpPr txBox="1"/>
          <p:nvPr/>
        </p:nvSpPr>
        <p:spPr>
          <a:xfrm>
            <a:off x="5445419" y="1029430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FG1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BE6B14B-A261-3AA5-7F6A-94E3A1CEEA25}"/>
              </a:ext>
            </a:extLst>
          </p:cNvPr>
          <p:cNvSpPr txBox="1"/>
          <p:nvPr/>
        </p:nvSpPr>
        <p:spPr>
          <a:xfrm>
            <a:off x="5004893" y="1611328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FG2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0751784D-1DC5-DA82-E8AC-4D3D1CE27BB9}"/>
              </a:ext>
            </a:extLst>
          </p:cNvPr>
          <p:cNvSpPr txBox="1"/>
          <p:nvPr/>
        </p:nvSpPr>
        <p:spPr>
          <a:xfrm>
            <a:off x="5961834" y="1609306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FG3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2F7AE841-47B7-DCBD-84EA-F037A11D65E7}"/>
              </a:ext>
            </a:extLst>
          </p:cNvPr>
          <p:cNvSpPr txBox="1"/>
          <p:nvPr/>
        </p:nvSpPr>
        <p:spPr>
          <a:xfrm>
            <a:off x="4743525" y="2282006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FG4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5EC0A02-F181-19A1-69A3-515964B1D233}"/>
              </a:ext>
            </a:extLst>
          </p:cNvPr>
          <p:cNvSpPr txBox="1"/>
          <p:nvPr/>
        </p:nvSpPr>
        <p:spPr>
          <a:xfrm>
            <a:off x="5508016" y="2281310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FG5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D842884-D2B3-0E34-E331-4D076F18B6FF}"/>
              </a:ext>
            </a:extLst>
          </p:cNvPr>
          <p:cNvSpPr txBox="1"/>
          <p:nvPr/>
        </p:nvSpPr>
        <p:spPr>
          <a:xfrm>
            <a:off x="6227212" y="2290426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FG6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983C5B3-B1A0-D503-BD03-8E250BF33EB8}"/>
              </a:ext>
            </a:extLst>
          </p:cNvPr>
          <p:cNvSpPr txBox="1"/>
          <p:nvPr/>
        </p:nvSpPr>
        <p:spPr>
          <a:xfrm>
            <a:off x="3442452" y="1025021"/>
            <a:ext cx="1127481" cy="1000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Phylogenetic signal</a:t>
            </a:r>
          </a:p>
          <a:p>
            <a:r>
              <a:rPr lang="en-GB" dirty="0"/>
              <a:t>Structured sensitivity</a:t>
            </a:r>
          </a:p>
          <a:p>
            <a:r>
              <a:rPr lang="en-US" dirty="0"/>
              <a:t>Uncertainty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B1CAB5-1954-223C-62D8-A6C46EEC212B}"/>
              </a:ext>
            </a:extLst>
          </p:cNvPr>
          <p:cNvSpPr txBox="1"/>
          <p:nvPr/>
        </p:nvSpPr>
        <p:spPr>
          <a:xfrm>
            <a:off x="4883671" y="193287"/>
            <a:ext cx="1713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3. Future Application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AB1C03-C152-0A74-A30D-1695E6425487}"/>
              </a:ext>
            </a:extLst>
          </p:cNvPr>
          <p:cNvSpPr txBox="1"/>
          <p:nvPr/>
        </p:nvSpPr>
        <p:spPr>
          <a:xfrm>
            <a:off x="4755400" y="443248"/>
            <a:ext cx="19988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GB" dirty="0"/>
              <a:t>Integration into food</a:t>
            </a:r>
            <a:r>
              <a:rPr lang="zh-CN" altLang="en-US" dirty="0"/>
              <a:t> </a:t>
            </a:r>
            <a:r>
              <a:rPr lang="en-GB" dirty="0"/>
              <a:t>web risk</a:t>
            </a:r>
            <a:r>
              <a:rPr lang="zh-CN" altLang="en-US" dirty="0"/>
              <a:t> </a:t>
            </a:r>
            <a:r>
              <a:rPr lang="en-GB" dirty="0"/>
              <a:t>assessment</a:t>
            </a:r>
          </a:p>
        </p:txBody>
      </p:sp>
      <p:pic>
        <p:nvPicPr>
          <p:cNvPr id="42" name="Picture 41" descr="A group of green symbols&#10;&#10;Description automatically generated">
            <a:extLst>
              <a:ext uri="{FF2B5EF4-FFF2-40B4-BE49-F238E27FC236}">
                <a16:creationId xmlns:a16="http://schemas.microsoft.com/office/drawing/2014/main" id="{594DEF6E-55CC-9C14-F5AA-ABA0306197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58" b="47857"/>
          <a:stretch/>
        </p:blipFill>
        <p:spPr>
          <a:xfrm>
            <a:off x="163121" y="1146935"/>
            <a:ext cx="500000" cy="165056"/>
          </a:xfrm>
          <a:prstGeom prst="rect">
            <a:avLst/>
          </a:prstGeom>
          <a:ln>
            <a:noFill/>
          </a:ln>
        </p:spPr>
      </p:pic>
      <p:pic>
        <p:nvPicPr>
          <p:cNvPr id="43" name="Picture 42" descr="A yellow bug with black background&#10;&#10;Description automatically generated">
            <a:extLst>
              <a:ext uri="{FF2B5EF4-FFF2-40B4-BE49-F238E27FC236}">
                <a16:creationId xmlns:a16="http://schemas.microsoft.com/office/drawing/2014/main" id="{1D2A003F-BA65-F6C3-7083-7721463C3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15" y="1344936"/>
            <a:ext cx="219237" cy="191175"/>
          </a:xfrm>
          <a:prstGeom prst="rect">
            <a:avLst/>
          </a:prstGeom>
        </p:spPr>
      </p:pic>
      <p:pic>
        <p:nvPicPr>
          <p:cNvPr id="44" name="Picture 43" descr="A white fish with a black background&#10;&#10;Description automatically generated">
            <a:extLst>
              <a:ext uri="{FF2B5EF4-FFF2-40B4-BE49-F238E27FC236}">
                <a16:creationId xmlns:a16="http://schemas.microsoft.com/office/drawing/2014/main" id="{253763BB-2C88-1F9D-4440-447C7F7E4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74" y="1571096"/>
            <a:ext cx="266430" cy="136412"/>
          </a:xfrm>
          <a:prstGeom prst="rect">
            <a:avLst/>
          </a:prstGeom>
          <a:noFill/>
          <a:ln>
            <a:tailEnd type="arrow"/>
          </a:ln>
        </p:spPr>
      </p:pic>
      <p:sp>
        <p:nvSpPr>
          <p:cNvPr id="45" name="Right Brace 44">
            <a:extLst>
              <a:ext uri="{FF2B5EF4-FFF2-40B4-BE49-F238E27FC236}">
                <a16:creationId xmlns:a16="http://schemas.microsoft.com/office/drawing/2014/main" id="{A07E0278-BDA7-CA8B-9B65-3B18CC61A439}"/>
              </a:ext>
            </a:extLst>
          </p:cNvPr>
          <p:cNvSpPr/>
          <p:nvPr/>
        </p:nvSpPr>
        <p:spPr>
          <a:xfrm>
            <a:off x="3150915" y="854864"/>
            <a:ext cx="221872" cy="13643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91A2C-779A-7C60-841D-71C57E2102B5}"/>
              </a:ext>
            </a:extLst>
          </p:cNvPr>
          <p:cNvSpPr txBox="1"/>
          <p:nvPr/>
        </p:nvSpPr>
        <p:spPr>
          <a:xfrm>
            <a:off x="115050" y="2893778"/>
            <a:ext cx="1633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Step 1.</a:t>
            </a:r>
            <a:r>
              <a: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Quantify phylogenetic signal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EB6D2F-DBE5-32E5-047D-CE7AC77FE11D}"/>
              </a:ext>
            </a:extLst>
          </p:cNvPr>
          <p:cNvSpPr txBox="1"/>
          <p:nvPr/>
        </p:nvSpPr>
        <p:spPr>
          <a:xfrm>
            <a:off x="1875971" y="2986111"/>
            <a:ext cx="4900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Step 2.</a:t>
            </a:r>
            <a:r>
              <a: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Fit Bayesian phylogenetic hierarchical models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08A39-C098-9F25-B517-D87CA056C098}"/>
              </a:ext>
            </a:extLst>
          </p:cNvPr>
          <p:cNvSpPr txBox="1"/>
          <p:nvPr/>
        </p:nvSpPr>
        <p:spPr>
          <a:xfrm>
            <a:off x="136417" y="3487491"/>
            <a:ext cx="1584347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Estimate phylogenetic signal in sensitivity for each chemical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683C1-CCCD-D083-F4AB-50469C07A9E5}"/>
              </a:ext>
            </a:extLst>
          </p:cNvPr>
          <p:cNvSpPr txBox="1"/>
          <p:nvPr/>
        </p:nvSpPr>
        <p:spPr>
          <a:xfrm rot="16200000">
            <a:off x="1582247" y="4305921"/>
            <a:ext cx="8210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50D744C-20BF-F8CE-90ED-E277CC8B0AC0}"/>
              </a:ext>
            </a:extLst>
          </p:cNvPr>
          <p:cNvGrpSpPr/>
          <p:nvPr/>
        </p:nvGrpSpPr>
        <p:grpSpPr>
          <a:xfrm>
            <a:off x="2066241" y="3529623"/>
            <a:ext cx="1453992" cy="1749895"/>
            <a:chOff x="2066241" y="3487091"/>
            <a:chExt cx="1453992" cy="174989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2034D9-492F-2C62-A8D8-7F9AA0FE8B42}"/>
                </a:ext>
              </a:extLst>
            </p:cNvPr>
            <p:cNvSpPr txBox="1"/>
            <p:nvPr/>
          </p:nvSpPr>
          <p:spPr>
            <a:xfrm>
              <a:off x="2411806" y="4975376"/>
              <a:ext cx="8819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Body Mass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F579BFA-1F34-A1D5-C373-9763C4637741}"/>
                </a:ext>
              </a:extLst>
            </p:cNvPr>
            <p:cNvGrpSpPr/>
            <p:nvPr/>
          </p:nvGrpSpPr>
          <p:grpSpPr>
            <a:xfrm>
              <a:off x="2127236" y="3829272"/>
              <a:ext cx="1332000" cy="1152000"/>
              <a:chOff x="421284" y="3354967"/>
              <a:chExt cx="1332000" cy="1152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B0F1D53-0D42-D489-7BE5-1CF30D96C5AF}"/>
                  </a:ext>
                </a:extLst>
              </p:cNvPr>
              <p:cNvSpPr/>
              <p:nvPr/>
            </p:nvSpPr>
            <p:spPr>
              <a:xfrm>
                <a:off x="421284" y="3354967"/>
                <a:ext cx="1332000" cy="1152000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CCDDCDD-45E9-EAF3-61C3-0CD3DF0744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226" y="3757482"/>
                <a:ext cx="939422" cy="40478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37586C-3CF6-F58D-E1B1-C3EFA85C3121}"/>
                </a:ext>
              </a:extLst>
            </p:cNvPr>
            <p:cNvSpPr txBox="1"/>
            <p:nvPr/>
          </p:nvSpPr>
          <p:spPr>
            <a:xfrm>
              <a:off x="2066241" y="3487091"/>
              <a:ext cx="1453992" cy="267723"/>
            </a:xfrm>
            <a:prstGeom prst="roundRect">
              <a:avLst/>
            </a:prstGeom>
            <a:noFill/>
            <a:ln>
              <a:noFill/>
            </a:ln>
          </p:spPr>
          <p:txBody>
            <a:bodyPr wrap="none" lIns="36000" tIns="36000" rIns="36000" bIns="36000" rtlCol="0">
              <a:spAutoFit/>
            </a:bodyPr>
            <a:lstStyle/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H1: Global allometry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3F44FE1-37D9-75E0-CD6F-56114B4043F0}"/>
              </a:ext>
            </a:extLst>
          </p:cNvPr>
          <p:cNvGrpSpPr/>
          <p:nvPr/>
        </p:nvGrpSpPr>
        <p:grpSpPr>
          <a:xfrm>
            <a:off x="3714056" y="3427071"/>
            <a:ext cx="1331999" cy="1852447"/>
            <a:chOff x="3727233" y="3384539"/>
            <a:chExt cx="1331999" cy="185244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673631-D472-6F04-B11B-481D48D5D2B3}"/>
                </a:ext>
              </a:extLst>
            </p:cNvPr>
            <p:cNvSpPr txBox="1"/>
            <p:nvPr/>
          </p:nvSpPr>
          <p:spPr>
            <a:xfrm>
              <a:off x="3953961" y="4975376"/>
              <a:ext cx="8819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Body Mass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50548B0-8CDF-832B-D390-112EC54D8241}"/>
                </a:ext>
              </a:extLst>
            </p:cNvPr>
            <p:cNvGrpSpPr/>
            <p:nvPr/>
          </p:nvGrpSpPr>
          <p:grpSpPr>
            <a:xfrm>
              <a:off x="3727233" y="3829272"/>
              <a:ext cx="1331999" cy="1155900"/>
              <a:chOff x="3727232" y="3829272"/>
              <a:chExt cx="1331999" cy="11559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A7FE0D0-6521-AB3D-EF74-E0677409A339}"/>
                  </a:ext>
                </a:extLst>
              </p:cNvPr>
              <p:cNvSpPr/>
              <p:nvPr/>
            </p:nvSpPr>
            <p:spPr>
              <a:xfrm>
                <a:off x="3727232" y="3833173"/>
                <a:ext cx="1331999" cy="115199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0D0A5B0-F824-50C2-1D9F-E83C370DAA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51124" y="4335215"/>
                <a:ext cx="992204" cy="43602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BF49EEF-EB9E-24D3-3F47-5D6C224841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7028" y="4533563"/>
                <a:ext cx="977806" cy="415273"/>
              </a:xfrm>
              <a:prstGeom prst="line">
                <a:avLst/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5940261-3188-D527-62A5-C48279E5C0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3181" y="3944830"/>
                <a:ext cx="991240" cy="429716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BD09E9F-43EB-B92C-3300-2DE7A58FC07D}"/>
                  </a:ext>
                </a:extLst>
              </p:cNvPr>
              <p:cNvSpPr txBox="1"/>
              <p:nvPr/>
            </p:nvSpPr>
            <p:spPr>
              <a:xfrm rot="20046109">
                <a:off x="4262526" y="3829272"/>
                <a:ext cx="4587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FG1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55CFAC-2823-7762-24F0-2651D8F95C4F}"/>
                  </a:ext>
                </a:extLst>
              </p:cNvPr>
              <p:cNvSpPr txBox="1"/>
              <p:nvPr/>
            </p:nvSpPr>
            <p:spPr>
              <a:xfrm rot="20190468">
                <a:off x="4527373" y="4374238"/>
                <a:ext cx="4587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FG6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3EF350F-BB4C-AAC8-B434-A53AC186E0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7448" y="4136867"/>
                <a:ext cx="992204" cy="436027"/>
              </a:xfrm>
              <a:prstGeom prst="line">
                <a:avLst/>
              </a:prstGeom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A8F8B0-8510-6AB8-9B5B-86B3F484D9D1}"/>
                  </a:ext>
                </a:extLst>
              </p:cNvPr>
              <p:cNvSpPr txBox="1"/>
              <p:nvPr/>
            </p:nvSpPr>
            <p:spPr>
              <a:xfrm rot="20190468">
                <a:off x="4372974" y="3999334"/>
                <a:ext cx="4587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FG2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C1E081-157A-0285-C9A8-2C22F5D34FBD}"/>
                  </a:ext>
                </a:extLst>
              </p:cNvPr>
              <p:cNvSpPr txBox="1"/>
              <p:nvPr/>
            </p:nvSpPr>
            <p:spPr>
              <a:xfrm rot="20190468">
                <a:off x="4492955" y="4162372"/>
                <a:ext cx="32573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F838F13-0B18-9090-CCF8-2A79F488853B}"/>
                </a:ext>
              </a:extLst>
            </p:cNvPr>
            <p:cNvSpPr txBox="1"/>
            <p:nvPr/>
          </p:nvSpPr>
          <p:spPr>
            <a:xfrm>
              <a:off x="3819341" y="3384539"/>
              <a:ext cx="1147785" cy="455008"/>
            </a:xfrm>
            <a:prstGeom prst="roundRect">
              <a:avLst/>
            </a:prstGeom>
            <a:noFill/>
            <a:ln>
              <a:noFill/>
            </a:ln>
          </p:spPr>
          <p:txBody>
            <a:bodyPr wrap="none" lIns="36000" tIns="36000" rIns="36000" bIns="36000" rtlCol="0">
              <a:spAutoFit/>
            </a:bodyPr>
            <a:lstStyle/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H2: FG-specific</a:t>
              </a:r>
            </a:p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baseline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3844DB0-6164-3A56-D4CA-7B632C856A74}"/>
              </a:ext>
            </a:extLst>
          </p:cNvPr>
          <p:cNvGrpSpPr/>
          <p:nvPr/>
        </p:nvGrpSpPr>
        <p:grpSpPr>
          <a:xfrm>
            <a:off x="5300411" y="3418526"/>
            <a:ext cx="1332000" cy="1851196"/>
            <a:chOff x="5300411" y="3375994"/>
            <a:chExt cx="1332000" cy="18511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7BFDD3-FBED-71E2-28F4-CF0B9E657D11}"/>
                </a:ext>
              </a:extLst>
            </p:cNvPr>
            <p:cNvSpPr txBox="1"/>
            <p:nvPr/>
          </p:nvSpPr>
          <p:spPr>
            <a:xfrm>
              <a:off x="5582049" y="4965580"/>
              <a:ext cx="8819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Body Mass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D9579E1-CF55-6DBA-0599-0E18BF872EB1}"/>
                </a:ext>
              </a:extLst>
            </p:cNvPr>
            <p:cNvGrpSpPr/>
            <p:nvPr/>
          </p:nvGrpSpPr>
          <p:grpSpPr>
            <a:xfrm>
              <a:off x="5300411" y="3829272"/>
              <a:ext cx="1332000" cy="1152000"/>
              <a:chOff x="5300796" y="3833172"/>
              <a:chExt cx="1332000" cy="115200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DCADAB0-FA80-4C10-BBB9-AA2E3AC804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82049" y="4044778"/>
                <a:ext cx="522150" cy="820608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FB34466-22DF-ADCD-904D-454F3DB787E7}"/>
                  </a:ext>
                </a:extLst>
              </p:cNvPr>
              <p:cNvGrpSpPr/>
              <p:nvPr/>
            </p:nvGrpSpPr>
            <p:grpSpPr>
              <a:xfrm>
                <a:off x="5300796" y="3833172"/>
                <a:ext cx="1332000" cy="1152000"/>
                <a:chOff x="3466489" y="3320807"/>
                <a:chExt cx="1332000" cy="1152000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41FDACC-24C8-F07B-8F72-DF95F49C806E}"/>
                    </a:ext>
                  </a:extLst>
                </p:cNvPr>
                <p:cNvSpPr/>
                <p:nvPr/>
              </p:nvSpPr>
              <p:spPr>
                <a:xfrm>
                  <a:off x="3466489" y="3320807"/>
                  <a:ext cx="1332000" cy="1152000"/>
                </a:xfrm>
                <a:prstGeom prst="rect">
                  <a:avLst/>
                </a:prstGeom>
                <a:no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794A83D-9777-00AF-650E-4960EC6294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04670" y="3938453"/>
                  <a:ext cx="1114206" cy="172999"/>
                </a:xfrm>
                <a:prstGeom prst="line">
                  <a:avLst/>
                </a:prstGeom>
                <a:ln w="38100">
                  <a:solidFill>
                    <a:srgbClr val="00B0F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0AE7145F-3260-051D-EBFA-4F2ED870D8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89983" y="3734350"/>
                  <a:ext cx="1128508" cy="494484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E33DB8D-B56A-CBBE-5809-7770C32161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0214" y="4177937"/>
                <a:ext cx="910704" cy="593305"/>
              </a:xfrm>
              <a:prstGeom prst="line">
                <a:avLst/>
              </a:prstGeom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722D681-937C-2BA5-D037-7997175CDEDC}"/>
                  </a:ext>
                </a:extLst>
              </p:cNvPr>
              <p:cNvSpPr txBox="1"/>
              <p:nvPr/>
            </p:nvSpPr>
            <p:spPr>
              <a:xfrm rot="18081193">
                <a:off x="5720803" y="3979396"/>
                <a:ext cx="4587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FG1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E2770AE-6AFB-A008-E7CF-A2C7D1D58E2D}"/>
                  </a:ext>
                </a:extLst>
              </p:cNvPr>
              <p:cNvSpPr txBox="1"/>
              <p:nvPr/>
            </p:nvSpPr>
            <p:spPr>
              <a:xfrm rot="19504204">
                <a:off x="5988928" y="4040675"/>
                <a:ext cx="4587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FG2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0620A5F-D301-E47B-C5B8-DF8BCE4C8831}"/>
                  </a:ext>
                </a:extLst>
              </p:cNvPr>
              <p:cNvSpPr txBox="1"/>
              <p:nvPr/>
            </p:nvSpPr>
            <p:spPr>
              <a:xfrm rot="20904999">
                <a:off x="6270971" y="4226597"/>
                <a:ext cx="32573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B36E18-9C97-9933-6D0E-EB3C42261570}"/>
                  </a:ext>
                </a:extLst>
              </p:cNvPr>
              <p:cNvSpPr txBox="1"/>
              <p:nvPr/>
            </p:nvSpPr>
            <p:spPr>
              <a:xfrm rot="1672618">
                <a:off x="6122634" y="4632553"/>
                <a:ext cx="4587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FG6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E35F5D1-E43A-6E54-B15F-6F347F9BB8D3}"/>
                </a:ext>
              </a:extLst>
            </p:cNvPr>
            <p:cNvSpPr txBox="1"/>
            <p:nvPr/>
          </p:nvSpPr>
          <p:spPr>
            <a:xfrm>
              <a:off x="5392521" y="3375994"/>
              <a:ext cx="1147785" cy="455008"/>
            </a:xfrm>
            <a:prstGeom prst="roundRect">
              <a:avLst/>
            </a:prstGeom>
            <a:noFill/>
            <a:ln>
              <a:noFill/>
            </a:ln>
          </p:spPr>
          <p:txBody>
            <a:bodyPr wrap="none" lIns="36000" tIns="36000" rIns="36000" bIns="36000" rtlCol="0">
              <a:spAutoFit/>
            </a:bodyPr>
            <a:lstStyle/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H3: FG-specific</a:t>
              </a:r>
            </a:p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allometry</a:t>
              </a:r>
            </a:p>
          </p:txBody>
        </p:sp>
      </p:grpSp>
      <p:pic>
        <p:nvPicPr>
          <p:cNvPr id="74" name="Picture 73" descr="A colorful lines on a black background&#10;&#10;Description automatically generated">
            <a:extLst>
              <a:ext uri="{FF2B5EF4-FFF2-40B4-BE49-F238E27FC236}">
                <a16:creationId xmlns:a16="http://schemas.microsoft.com/office/drawing/2014/main" id="{FB3F1507-C5AB-D588-1102-14A145EF9D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404" t="19628" r="18777" b="17115"/>
          <a:stretch/>
        </p:blipFill>
        <p:spPr>
          <a:xfrm>
            <a:off x="204429" y="4041941"/>
            <a:ext cx="1414903" cy="118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1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213</Words>
  <Application>Microsoft Macintosh PowerPoint</Application>
  <PresentationFormat>A4 Paper (210x297 mm)</PresentationFormat>
  <Paragraphs>88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Xiaoxiao Li</dc:creator>
  <cp:lastModifiedBy>Xiaoxiao Li</cp:lastModifiedBy>
  <cp:revision>36</cp:revision>
  <dcterms:created xsi:type="dcterms:W3CDTF">2026-04-30T09:47:12Z</dcterms:created>
  <dcterms:modified xsi:type="dcterms:W3CDTF">2026-07-31T12:43:04Z</dcterms:modified>
</cp:coreProperties>
</file>